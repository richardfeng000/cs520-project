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Rules and Scoring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E88E5">
                <a:alpha val="72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008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97510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</a:t>
            </a:r>
            <a:endParaRPr lang="en-US" sz="1000" dirty="0"/>
          </a:p>
        </p:txBody>
      </p:sp>
      <p:pic>
        <p:nvPicPr>
          <p:cNvPr id="7" name="Image 1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2194560"/>
            <a:ext cx="246888" cy="246888"/>
          </a:xfrm>
          <a:prstGeom prst="rect">
            <a:avLst/>
          </a:prstGeom>
        </p:spPr>
      </p:pic>
      <p:pic>
        <p:nvPicPr>
          <p:cNvPr id="8" name="Image 2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176" y="2194560"/>
            <a:ext cx="246888" cy="246888"/>
          </a:xfrm>
          <a:prstGeom prst="rect">
            <a:avLst/>
          </a:prstGeom>
        </p:spPr>
      </p:pic>
      <p:pic>
        <p:nvPicPr>
          <p:cNvPr id="9" name="Image 3" descr="/Users/fengruiding/Desktop/cs520/project/pacman/public/icon/favic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8216" y="2194560"/>
            <a:ext cx="246888" cy="24688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04672" y="2496312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lives</a:t>
            </a:r>
            <a:endParaRPr lang="en-US" sz="1100" dirty="0"/>
          </a:p>
        </p:txBody>
      </p:sp>
      <p:sp>
        <p:nvSpPr>
          <p:cNvPr id="11" name="Shape 5"/>
          <p:cNvSpPr/>
          <p:nvPr/>
        </p:nvSpPr>
        <p:spPr>
          <a:xfrm>
            <a:off x="2606040" y="1828800"/>
            <a:ext cx="178308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2" name="Text 6"/>
          <p:cNvSpPr/>
          <p:nvPr/>
        </p:nvSpPr>
        <p:spPr>
          <a:xfrm>
            <a:off x="2788920" y="197510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296265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3163824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3364992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3566160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3767328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3968496" y="2258568"/>
            <a:ext cx="64008" cy="6400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770632" y="2459736"/>
            <a:ext cx="14538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2100" dirty="0"/>
          </a:p>
        </p:txBody>
      </p:sp>
      <p:sp>
        <p:nvSpPr>
          <p:cNvPr id="20" name="Shape 14"/>
          <p:cNvSpPr/>
          <p:nvPr/>
        </p:nvSpPr>
        <p:spPr>
          <a:xfrm>
            <a:off x="4572000" y="1828800"/>
            <a:ext cx="196596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4754880" y="197510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ENERGIZER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454396" y="2185416"/>
            <a:ext cx="201168" cy="201168"/>
          </a:xfrm>
          <a:prstGeom prst="ellipse">
            <a:avLst/>
          </a:prstGeom>
          <a:solidFill>
            <a:srgbClr val="F7C5C0"/>
          </a:solidFill>
          <a:ln w="12700">
            <a:solidFill>
              <a:srgbClr val="F7C5C0">
                <a:alpha val="0"/>
              </a:srgbClr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4736592" y="2459736"/>
            <a:ext cx="16367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＋50</a:t>
            </a:r>
            <a:endParaRPr lang="en-US" sz="2100" dirty="0"/>
          </a:p>
        </p:txBody>
      </p:sp>
      <p:sp>
        <p:nvSpPr>
          <p:cNvPr id="24" name="Shape 18"/>
          <p:cNvSpPr/>
          <p:nvPr/>
        </p:nvSpPr>
        <p:spPr>
          <a:xfrm>
            <a:off x="6720840" y="1828800"/>
            <a:ext cx="242316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903720" y="1975104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BONUS</a:t>
            </a:r>
            <a:endParaRPr lang="en-US" sz="1000" dirty="0"/>
          </a:p>
        </p:txBody>
      </p:sp>
      <p:pic>
        <p:nvPicPr>
          <p:cNvPr id="26" name="Image 4" descr="/Users/fengruiding/Desktop/cs520/project/ppt_3pages/ui_ghost_blu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404" y="2185416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6867144" y="2478024"/>
            <a:ext cx="2130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 / +400 / +800 / +1600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9326880" y="1828800"/>
            <a:ext cx="2240280" cy="932688"/>
          </a:xfrm>
          <a:prstGeom prst="roundRect">
            <a:avLst>
              <a:gd name="adj" fmla="val 784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9509760" y="197510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</a:t>
            </a:r>
            <a:endParaRPr lang="en-US" sz="1000" dirty="0"/>
          </a:p>
        </p:txBody>
      </p:sp>
      <p:pic>
        <p:nvPicPr>
          <p:cNvPr id="30" name="Image 5" descr="/Users/fengruiding/Desktop/cs520/project/ppt_3pages/ui_fruit_cherrie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54996" y="2157984"/>
            <a:ext cx="347472" cy="283464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491472" y="2487168"/>
            <a:ext cx="19110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BONUS</a:t>
            </a:r>
            <a:endParaRPr lang="en-US" sz="1600" dirty="0"/>
          </a:p>
        </p:txBody>
      </p:sp>
      <p:sp>
        <p:nvSpPr>
          <p:cNvPr id="32" name="Shape 24"/>
          <p:cNvSpPr/>
          <p:nvPr/>
        </p:nvSpPr>
        <p:spPr>
          <a:xfrm>
            <a:off x="640080" y="2944368"/>
            <a:ext cx="5440680" cy="2834640"/>
          </a:xfrm>
          <a:prstGeom prst="roundRect">
            <a:avLst>
              <a:gd name="adj" fmla="val 258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3" name="Text 25"/>
          <p:cNvSpPr/>
          <p:nvPr/>
        </p:nvSpPr>
        <p:spPr>
          <a:xfrm>
            <a:off x="868680" y="314553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800" dirty="0"/>
          </a:p>
        </p:txBody>
      </p:sp>
      <p:sp>
        <p:nvSpPr>
          <p:cNvPr id="34" name="Shape 26"/>
          <p:cNvSpPr/>
          <p:nvPr/>
        </p:nvSpPr>
        <p:spPr>
          <a:xfrm>
            <a:off x="868680" y="3511296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35" name="Text 27"/>
          <p:cNvSpPr/>
          <p:nvPr/>
        </p:nvSpPr>
        <p:spPr>
          <a:xfrm>
            <a:off x="868680" y="3694176"/>
            <a:ext cx="498348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player controls Pac-Man and clears the maze by eating all pellets and energizers.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Pac-Man starts the game with 3 lives.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Colliding with a normal ghost costs 1 life.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game ends when all 3 lives are lost.</a:t>
            </a:r>
            <a:endParaRPr lang="en-US" sz="1600" dirty="0"/>
          </a:p>
        </p:txBody>
      </p:sp>
      <p:sp>
        <p:nvSpPr>
          <p:cNvPr id="36" name="Shape 28"/>
          <p:cNvSpPr/>
          <p:nvPr/>
        </p:nvSpPr>
        <p:spPr>
          <a:xfrm>
            <a:off x="6291072" y="2944368"/>
            <a:ext cx="5276088" cy="2834640"/>
          </a:xfrm>
          <a:prstGeom prst="roundRect">
            <a:avLst>
              <a:gd name="adj" fmla="val 258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6519672" y="3145536"/>
            <a:ext cx="4818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Scoring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6519672" y="3511296"/>
            <a:ext cx="4818888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519672" y="3694176"/>
            <a:ext cx="481888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 regular pellet gives +10 points.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an energizer gives +50 points and makes ghosts vulnerable for a limited time.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Eating vulnerable ghosts gives increasing bonus rewards: +200 / +400 / +800 / +1600.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Fruit appears at specific stages and gives bonus points when collected.</a:t>
            </a:r>
            <a:endParaRPr lang="en-US" sz="1500" dirty="0"/>
          </a:p>
        </p:txBody>
      </p:sp>
      <p:sp>
        <p:nvSpPr>
          <p:cNvPr id="40" name="Shape 32"/>
          <p:cNvSpPr/>
          <p:nvPr/>
        </p:nvSpPr>
        <p:spPr>
          <a:xfrm>
            <a:off x="640080" y="5943600"/>
            <a:ext cx="10927080" cy="420624"/>
          </a:xfrm>
          <a:prstGeom prst="roundRect">
            <a:avLst>
              <a:gd name="adj" fmla="val 1739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896112" y="6108192"/>
            <a:ext cx="104150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objective: score as much as possible while surviving long enough to clear the maze.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ruiding/Desktop/cs520/project/ppt_3p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and Penalty Design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16A085">
                <a:alpha val="7200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40080" y="1444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Markov Decision Process (MDP)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1664208"/>
            <a:ext cx="10927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Q(s,a) ← Q(s,a) + α[r + γ max_a' Q(s',a') − Q(s,a)]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2505456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PELLET/E.  </a:t>
            </a:r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+10/+50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478024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679192" y="2505456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FRUIT/GHOST  </a:t>
            </a:r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Bns/+200~1600</a:t>
            </a:r>
            <a:endParaRPr lang="en-US" sz="860" dirty="0"/>
          </a:p>
        </p:txBody>
      </p:sp>
      <p:sp>
        <p:nvSpPr>
          <p:cNvPr id="11" name="Shape 8"/>
          <p:cNvSpPr/>
          <p:nvPr/>
        </p:nvSpPr>
        <p:spPr>
          <a:xfrm>
            <a:off x="4315968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17136" y="2505456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ESCAPE/CHASE  </a:t>
            </a:r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+1.5/+3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6153912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5080" y="2505456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FRUIT/CLEAR  </a:t>
            </a:r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+2/+500</a:t>
            </a:r>
            <a:endParaRPr lang="en-US" sz="920" dirty="0"/>
          </a:p>
        </p:txBody>
      </p:sp>
      <p:sp>
        <p:nvSpPr>
          <p:cNvPr id="15" name="Shape 12"/>
          <p:cNvSpPr/>
          <p:nvPr/>
        </p:nvSpPr>
        <p:spPr>
          <a:xfrm>
            <a:off x="7991856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93024" y="2505456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STEP/PRESS.  </a:t>
            </a:r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-1/-0.5×P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9829800" y="2240280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030968" y="2505456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TIMEOUT/DEATH  </a:t>
            </a:r>
            <a:pPr algn="ctr"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-250/Large-</a:t>
            </a:r>
            <a:endParaRPr lang="en-US" sz="840" dirty="0"/>
          </a:p>
        </p:txBody>
      </p:sp>
      <p:sp>
        <p:nvSpPr>
          <p:cNvPr id="19" name="Shape 16"/>
          <p:cNvSpPr/>
          <p:nvPr/>
        </p:nvSpPr>
        <p:spPr>
          <a:xfrm>
            <a:off x="640080" y="3154680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335584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Rewards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868680" y="3721608"/>
            <a:ext cx="2999232" cy="0"/>
          </a:xfrm>
          <a:prstGeom prst="line">
            <a:avLst/>
          </a:prstGeom>
          <a:noFill/>
          <a:ln w="12700">
            <a:solidFill>
              <a:srgbClr val="1E88E5">
                <a:alpha val="82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3904488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Pellet: +10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Energizer: +50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Fruit collection: fruit bonus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Vulnerable ghost combo: +200 / +400 / +800 / +1600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4370832" y="3154680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599432" y="335584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Shaping Rewards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599432" y="3721608"/>
            <a:ext cx="2999232" cy="0"/>
          </a:xfrm>
          <a:prstGeom prst="line">
            <a:avLst/>
          </a:prstGeom>
          <a:noFill/>
          <a:ln w="12700">
            <a:solidFill>
              <a:srgbClr val="16A085">
                <a:alpha val="82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99432" y="3904488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Escape a nearby dangerous ghost: +1.5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 closer to a vulnerable ghost: +3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 closer to fruit: +2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the level: +500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8110728" y="3154680"/>
            <a:ext cx="3456432" cy="2267712"/>
          </a:xfrm>
          <a:prstGeom prst="roundRect">
            <a:avLst>
              <a:gd name="adj" fmla="val 322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8339328" y="3355848"/>
            <a:ext cx="2999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Penalties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339328" y="3721608"/>
            <a:ext cx="2999232" cy="0"/>
          </a:xfrm>
          <a:prstGeom prst="line">
            <a:avLst/>
          </a:prstGeom>
          <a:noFill/>
          <a:ln w="12700">
            <a:solidFill>
              <a:srgbClr val="D93025">
                <a:alpha val="8200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339328" y="3904488"/>
            <a:ext cx="299923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Step cost: -1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Danger pressure: -0.5 × threat pressure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Timeout at 900 steps: -250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Death: large negative reward including score reset loss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93776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 Placeholder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170432"/>
            <a:ext cx="10881360" cy="0"/>
          </a:xfrm>
          <a:prstGeom prst="line">
            <a:avLst/>
          </a:prstGeom>
          <a:noFill/>
          <a:ln w="12700">
            <a:solidFill>
              <a:srgbClr val="F4B400">
                <a:alpha val="7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2011680"/>
            <a:ext cx="10241280" cy="3291840"/>
          </a:xfrm>
          <a:prstGeom prst="roundRect">
            <a:avLst>
              <a:gd name="adj" fmla="val 2778"/>
            </a:avLst>
          </a:prstGeom>
          <a:solidFill>
            <a:srgbClr val="FFF9E8"/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154680" y="27889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to be added later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971800" y="34930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6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Reserved for the final discussion point.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Pac-Man Reinforcement Learning</dc:title>
  <dc:subject>Pac-Man RL Presentation</dc:subject>
  <dc:creator>OpenAI Codex</dc:creator>
  <cp:lastModifiedBy>OpenAI Codex</cp:lastModifiedBy>
  <cp:revision>1</cp:revision>
  <dcterms:created xsi:type="dcterms:W3CDTF">2026-04-20T17:45:54Z</dcterms:created>
  <dcterms:modified xsi:type="dcterms:W3CDTF">2026-04-20T17:45:54Z</dcterms:modified>
</cp:coreProperties>
</file>
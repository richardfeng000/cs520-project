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2.png"/><Relationship Id="rId4" Type="http://schemas.openxmlformats.org/officeDocument/2006/relationships/image" Target="../media/image-1-2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ruiding/Desktop/cs520/project/ppt_3pages/pacman_neo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93776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Rules and Scoring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640080" y="1170432"/>
            <a:ext cx="10881360" cy="0"/>
          </a:xfrm>
          <a:prstGeom prst="line">
            <a:avLst/>
          </a:prstGeom>
          <a:noFill/>
          <a:ln w="12700">
            <a:solidFill>
              <a:srgbClr val="1E88E5">
                <a:alpha val="72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828800"/>
            <a:ext cx="1783080" cy="932688"/>
          </a:xfrm>
          <a:prstGeom prst="roundRect">
            <a:avLst>
              <a:gd name="adj" fmla="val 7843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97510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E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LIVES</a:t>
            </a:r>
            <a:endParaRPr lang="en-US" sz="1000" dirty="0"/>
          </a:p>
        </p:txBody>
      </p:sp>
      <p:pic>
        <p:nvPicPr>
          <p:cNvPr id="7" name="Image 1" descr="/Users/fengruiding/Desktop/cs520/project/pacman/public/icon/fav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2194560"/>
            <a:ext cx="246888" cy="246888"/>
          </a:xfrm>
          <a:prstGeom prst="rect">
            <a:avLst/>
          </a:prstGeom>
        </p:spPr>
      </p:pic>
      <p:pic>
        <p:nvPicPr>
          <p:cNvPr id="8" name="Image 2" descr="/Users/fengruiding/Desktop/cs520/project/pacman/public/icon/fav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8176" y="2194560"/>
            <a:ext cx="246888" cy="246888"/>
          </a:xfrm>
          <a:prstGeom prst="rect">
            <a:avLst/>
          </a:prstGeom>
        </p:spPr>
      </p:pic>
      <p:pic>
        <p:nvPicPr>
          <p:cNvPr id="9" name="Image 3" descr="/Users/fengruiding/Desktop/cs520/project/pacman/public/icon/favic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8216" y="2194560"/>
            <a:ext cx="246888" cy="24688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04672" y="2496312"/>
            <a:ext cx="1453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lives</a:t>
            </a:r>
            <a:endParaRPr lang="en-US" sz="1100" dirty="0"/>
          </a:p>
        </p:txBody>
      </p:sp>
      <p:sp>
        <p:nvSpPr>
          <p:cNvPr id="11" name="Shape 5"/>
          <p:cNvSpPr/>
          <p:nvPr/>
        </p:nvSpPr>
        <p:spPr>
          <a:xfrm>
            <a:off x="2606040" y="1828800"/>
            <a:ext cx="1783080" cy="932688"/>
          </a:xfrm>
          <a:prstGeom prst="roundRect">
            <a:avLst>
              <a:gd name="adj" fmla="val 7843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2" name="Text 6"/>
          <p:cNvSpPr/>
          <p:nvPr/>
        </p:nvSpPr>
        <p:spPr>
          <a:xfrm>
            <a:off x="2788920" y="197510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E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PELLET</a:t>
            </a:r>
            <a:endParaRPr lang="en-US" sz="1000" dirty="0"/>
          </a:p>
        </p:txBody>
      </p:sp>
      <p:sp>
        <p:nvSpPr>
          <p:cNvPr id="13" name="Shape 7"/>
          <p:cNvSpPr/>
          <p:nvPr/>
        </p:nvSpPr>
        <p:spPr>
          <a:xfrm>
            <a:off x="2962656" y="2258568"/>
            <a:ext cx="64008" cy="64008"/>
          </a:xfrm>
          <a:prstGeom prst="ellipse">
            <a:avLst/>
          </a:prstGeom>
          <a:solidFill>
            <a:srgbClr val="F7C5C0"/>
          </a:solidFill>
          <a:ln w="12700">
            <a:solidFill>
              <a:srgbClr val="F7C5C0">
                <a:alpha val="0"/>
              </a:srgbClr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3163824" y="2258568"/>
            <a:ext cx="64008" cy="64008"/>
          </a:xfrm>
          <a:prstGeom prst="ellipse">
            <a:avLst/>
          </a:prstGeom>
          <a:solidFill>
            <a:srgbClr val="F7C5C0"/>
          </a:solidFill>
          <a:ln w="12700">
            <a:solidFill>
              <a:srgbClr val="F7C5C0">
                <a:alpha val="0"/>
              </a:srgbClr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3364992" y="2258568"/>
            <a:ext cx="64008" cy="64008"/>
          </a:xfrm>
          <a:prstGeom prst="ellipse">
            <a:avLst/>
          </a:prstGeom>
          <a:solidFill>
            <a:srgbClr val="F7C5C0"/>
          </a:solidFill>
          <a:ln w="12700">
            <a:solidFill>
              <a:srgbClr val="F7C5C0">
                <a:alpha val="0"/>
              </a:srgbClr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3566160" y="2258568"/>
            <a:ext cx="64008" cy="64008"/>
          </a:xfrm>
          <a:prstGeom prst="ellipse">
            <a:avLst/>
          </a:prstGeom>
          <a:solidFill>
            <a:srgbClr val="F7C5C0"/>
          </a:solidFill>
          <a:ln w="12700">
            <a:solidFill>
              <a:srgbClr val="F7C5C0">
                <a:alpha val="0"/>
              </a:srgbClr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3767328" y="2258568"/>
            <a:ext cx="64008" cy="64008"/>
          </a:xfrm>
          <a:prstGeom prst="ellipse">
            <a:avLst/>
          </a:prstGeom>
          <a:solidFill>
            <a:srgbClr val="F7C5C0"/>
          </a:solidFill>
          <a:ln w="12700">
            <a:solidFill>
              <a:srgbClr val="F7C5C0">
                <a:alpha val="0"/>
              </a:srgbClr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3968496" y="2258568"/>
            <a:ext cx="64008" cy="64008"/>
          </a:xfrm>
          <a:prstGeom prst="ellipse">
            <a:avLst/>
          </a:prstGeom>
          <a:solidFill>
            <a:srgbClr val="F7C5C0"/>
          </a:solidFill>
          <a:ln w="12700">
            <a:solidFill>
              <a:srgbClr val="F7C5C0">
                <a:alpha val="0"/>
              </a:srgbClr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770632" y="2459736"/>
            <a:ext cx="1453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＋10</a:t>
            </a:r>
            <a:endParaRPr lang="en-US" sz="2100" dirty="0"/>
          </a:p>
        </p:txBody>
      </p:sp>
      <p:sp>
        <p:nvSpPr>
          <p:cNvPr id="20" name="Shape 14"/>
          <p:cNvSpPr/>
          <p:nvPr/>
        </p:nvSpPr>
        <p:spPr>
          <a:xfrm>
            <a:off x="4572000" y="1828800"/>
            <a:ext cx="1965960" cy="932688"/>
          </a:xfrm>
          <a:prstGeom prst="roundRect">
            <a:avLst>
              <a:gd name="adj" fmla="val 7843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4754880" y="197510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E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ENERGIZER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454396" y="2185416"/>
            <a:ext cx="201168" cy="201168"/>
          </a:xfrm>
          <a:prstGeom prst="ellipse">
            <a:avLst/>
          </a:prstGeom>
          <a:solidFill>
            <a:srgbClr val="F7C5C0"/>
          </a:solidFill>
          <a:ln w="12700">
            <a:solidFill>
              <a:srgbClr val="F7C5C0">
                <a:alpha val="0"/>
              </a:srgbClr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4736592" y="2459736"/>
            <a:ext cx="1636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＋50</a:t>
            </a:r>
            <a:endParaRPr lang="en-US" sz="2100" dirty="0"/>
          </a:p>
        </p:txBody>
      </p:sp>
      <p:sp>
        <p:nvSpPr>
          <p:cNvPr id="24" name="Shape 18"/>
          <p:cNvSpPr/>
          <p:nvPr/>
        </p:nvSpPr>
        <p:spPr>
          <a:xfrm>
            <a:off x="6720840" y="1828800"/>
            <a:ext cx="2423160" cy="932688"/>
          </a:xfrm>
          <a:prstGeom prst="roundRect">
            <a:avLst>
              <a:gd name="adj" fmla="val 7843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6903720" y="197510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E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BONUS</a:t>
            </a:r>
            <a:endParaRPr lang="en-US" sz="1000" dirty="0"/>
          </a:p>
        </p:txBody>
      </p:sp>
      <p:pic>
        <p:nvPicPr>
          <p:cNvPr id="26" name="Image 4" descr="/Users/fengruiding/Desktop/cs520/project/ppt_3pages/ui_ghost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4404" y="2185416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867144" y="2478024"/>
            <a:ext cx="2130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+200 / +400 / +800 / +1600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9326880" y="1828800"/>
            <a:ext cx="2240280" cy="932688"/>
          </a:xfrm>
          <a:prstGeom prst="roundRect">
            <a:avLst>
              <a:gd name="adj" fmla="val 7843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9509760" y="197510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E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FRUIT</a:t>
            </a:r>
            <a:endParaRPr lang="en-US" sz="1000" dirty="0"/>
          </a:p>
        </p:txBody>
      </p:sp>
      <p:pic>
        <p:nvPicPr>
          <p:cNvPr id="30" name="Image 5" descr="/Users/fengruiding/Desktop/cs520/project/ppt_3pages/ui_fruit_cherrie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4996" y="2157984"/>
            <a:ext cx="347472" cy="28346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491472" y="2487168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</a:t>
            </a:r>
            <a:endParaRPr lang="en-US" sz="1600" dirty="0"/>
          </a:p>
        </p:txBody>
      </p:sp>
      <p:sp>
        <p:nvSpPr>
          <p:cNvPr id="32" name="Shape 24"/>
          <p:cNvSpPr/>
          <p:nvPr/>
        </p:nvSpPr>
        <p:spPr>
          <a:xfrm>
            <a:off x="640080" y="2944368"/>
            <a:ext cx="5440680" cy="2834640"/>
          </a:xfrm>
          <a:prstGeom prst="roundRect">
            <a:avLst>
              <a:gd name="adj" fmla="val 2581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868680" y="3145536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1800" dirty="0"/>
          </a:p>
        </p:txBody>
      </p:sp>
      <p:sp>
        <p:nvSpPr>
          <p:cNvPr id="34" name="Shape 26"/>
          <p:cNvSpPr/>
          <p:nvPr/>
        </p:nvSpPr>
        <p:spPr>
          <a:xfrm>
            <a:off x="868680" y="3511296"/>
            <a:ext cx="4983480" cy="0"/>
          </a:xfrm>
          <a:prstGeom prst="line">
            <a:avLst/>
          </a:prstGeom>
          <a:noFill/>
          <a:ln w="12700">
            <a:solidFill>
              <a:srgbClr val="1E88E5">
                <a:alpha val="82000"/>
              </a:srgbClr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868680" y="3694176"/>
            <a:ext cx="498348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player controls Pac-Man and clears the maze by eating all pellets and energizers.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Pac-Man starts the game with 3 lives.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Colliding with a normal ghost costs 1 life.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game ends when all 3 lives are lost.</a:t>
            </a:r>
            <a:endParaRPr lang="en-US" sz="1600" dirty="0"/>
          </a:p>
        </p:txBody>
      </p:sp>
      <p:sp>
        <p:nvSpPr>
          <p:cNvPr id="36" name="Shape 28"/>
          <p:cNvSpPr/>
          <p:nvPr/>
        </p:nvSpPr>
        <p:spPr>
          <a:xfrm>
            <a:off x="6291072" y="2944368"/>
            <a:ext cx="5276088" cy="2834640"/>
          </a:xfrm>
          <a:prstGeom prst="roundRect">
            <a:avLst>
              <a:gd name="adj" fmla="val 2581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6519672" y="3145536"/>
            <a:ext cx="4818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</a:t>
            </a:r>
            <a:endParaRPr lang="en-US" sz="1800" dirty="0"/>
          </a:p>
        </p:txBody>
      </p:sp>
      <p:sp>
        <p:nvSpPr>
          <p:cNvPr id="38" name="Shape 30"/>
          <p:cNvSpPr/>
          <p:nvPr/>
        </p:nvSpPr>
        <p:spPr>
          <a:xfrm>
            <a:off x="6519672" y="3511296"/>
            <a:ext cx="4818888" cy="0"/>
          </a:xfrm>
          <a:prstGeom prst="line">
            <a:avLst/>
          </a:prstGeom>
          <a:noFill/>
          <a:ln w="12700">
            <a:solidFill>
              <a:srgbClr val="16A085">
                <a:alpha val="82000"/>
              </a:srgbClr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6519672" y="3694176"/>
            <a:ext cx="4818888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Eating a regular pellet gives +10 points.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Eating an energizer gives +50 points and makes ghosts vulnerable for a limited time.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Eating vulnerable ghosts gives increasing bonus rewards: +200 / +400 / +800 / +1600.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Fruit appears at specific stages and gives bonus points when collected.</a:t>
            </a:r>
            <a:endParaRPr lang="en-US" sz="1500" dirty="0"/>
          </a:p>
        </p:txBody>
      </p:sp>
      <p:sp>
        <p:nvSpPr>
          <p:cNvPr id="40" name="Shape 32"/>
          <p:cNvSpPr/>
          <p:nvPr/>
        </p:nvSpPr>
        <p:spPr>
          <a:xfrm>
            <a:off x="640080" y="5943600"/>
            <a:ext cx="10927080" cy="420624"/>
          </a:xfrm>
          <a:prstGeom prst="roundRect">
            <a:avLst>
              <a:gd name="adj" fmla="val 17391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896112" y="6108192"/>
            <a:ext cx="10415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objective: score as much as possible while surviving long enough to clear the maze.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ruiding/Desktop/cs520/project/ppt_3pages/pacman_neo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93776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and Penalty Design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640080" y="1170432"/>
            <a:ext cx="10881360" cy="0"/>
          </a:xfrm>
          <a:prstGeom prst="line">
            <a:avLst/>
          </a:prstGeom>
          <a:noFill/>
          <a:ln w="12700">
            <a:solidFill>
              <a:srgbClr val="16A085">
                <a:alpha val="72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144475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E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Markov Decision Process (MDP)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1664208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Q(s,a) ← Q(s,a) + α[r + γ max_a' Q(s',a') − Q(s,a)]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40080" y="19933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E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and Penalty Design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322576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24323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E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PELLET/E.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77240" y="267004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+10/+50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478024" y="2322576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615184" y="24323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E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FRUIT/GHOST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615184" y="267004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Bns/+200~1600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315968" y="2322576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53128" y="24323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E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ESCAPE/CHASE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453128" y="267004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+1.5/+3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153912" y="2322576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91072" y="24323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E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FRUIT/CLEAR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291072" y="267004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+2/+500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991856" y="2322576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129016" y="24323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E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STEP/PRESS.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129016" y="267004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-1/-0.5×P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829800" y="2322576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966960" y="24323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E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TIMEOUT/DEATH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9966960" y="267004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-250/Large-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40080" y="3255264"/>
            <a:ext cx="3456432" cy="2267712"/>
          </a:xfrm>
          <a:prstGeom prst="roundRect">
            <a:avLst>
              <a:gd name="adj" fmla="val 3226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68680" y="3456432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Rewards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868680" y="3822192"/>
            <a:ext cx="2999232" cy="0"/>
          </a:xfrm>
          <a:prstGeom prst="line">
            <a:avLst/>
          </a:prstGeom>
          <a:noFill/>
          <a:ln w="12700">
            <a:solidFill>
              <a:srgbClr val="1E88E5">
                <a:alpha val="82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68680" y="4005072"/>
            <a:ext cx="299923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Pellet: +10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Energizer: +50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Fruit collection: fruit bonus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Vulnerable ghost combo: +200 / +400 / +800 / +1600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370832" y="3255264"/>
            <a:ext cx="3456432" cy="2267712"/>
          </a:xfrm>
          <a:prstGeom prst="roundRect">
            <a:avLst>
              <a:gd name="adj" fmla="val 3226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99432" y="3456432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Shaping Rewards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4599432" y="3822192"/>
            <a:ext cx="2999232" cy="0"/>
          </a:xfrm>
          <a:prstGeom prst="line">
            <a:avLst/>
          </a:prstGeom>
          <a:noFill/>
          <a:ln w="12700">
            <a:solidFill>
              <a:srgbClr val="16A085">
                <a:alpha val="82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99432" y="4005072"/>
            <a:ext cx="299923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Escape a nearby dangerous ghost: +1.5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Move closer to a vulnerable ghost: +3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Move closer to fruit: +2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Clear the level: +500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8110728" y="3255264"/>
            <a:ext cx="3456432" cy="2267712"/>
          </a:xfrm>
          <a:prstGeom prst="roundRect">
            <a:avLst>
              <a:gd name="adj" fmla="val 3226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339328" y="3456432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Penalties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8339328" y="3822192"/>
            <a:ext cx="2999232" cy="0"/>
          </a:xfrm>
          <a:prstGeom prst="line">
            <a:avLst/>
          </a:prstGeom>
          <a:noFill/>
          <a:ln w="12700">
            <a:solidFill>
              <a:srgbClr val="D93025">
                <a:alpha val="82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339328" y="4005072"/>
            <a:ext cx="299923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Step cost: -1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Danger pressure: -0.5 × threat pressure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Timeout at 900 steps: -250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Death: large negative reward including score reset loss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ruiding/Desktop/cs520/project/ppt_3pages/pacman_neo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493776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640080" y="1170432"/>
            <a:ext cx="10881360" cy="0"/>
          </a:xfrm>
          <a:prstGeom prst="line">
            <a:avLst/>
          </a:prstGeom>
          <a:noFill/>
          <a:ln w="12700">
            <a:solidFill>
              <a:srgbClr val="F4B400">
                <a:alpha val="72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1554480"/>
            <a:ext cx="10927080" cy="512064"/>
          </a:xfrm>
          <a:prstGeom prst="roundRect">
            <a:avLst>
              <a:gd name="adj" fmla="val 14286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96112" y="1719072"/>
            <a:ext cx="10415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clear the level without losing a single life.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" y="22677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Death Handling Mechanisms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2560320"/>
            <a:ext cx="2331720" cy="0"/>
          </a:xfrm>
          <a:prstGeom prst="line">
            <a:avLst/>
          </a:prstGeom>
          <a:noFill/>
          <a:ln w="12700">
            <a:solidFill>
              <a:srgbClr val="F4B400">
                <a:alpha val="8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274320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29443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1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68680" y="3310128"/>
            <a:ext cx="2971800" cy="0"/>
          </a:xfrm>
          <a:prstGeom prst="line">
            <a:avLst/>
          </a:prstGeom>
          <a:noFill/>
          <a:ln w="12700">
            <a:solidFill>
              <a:srgbClr val="1E88E5">
                <a:alpha val="82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" y="3493008"/>
            <a:ext cx="29718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Pac-Man has 3 lives.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Rewards keep accumulating across lives.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Dying does not reset the score.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4379976" y="274320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08576" y="29443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2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4608576" y="3310128"/>
            <a:ext cx="2971800" cy="0"/>
          </a:xfrm>
          <a:prstGeom prst="line">
            <a:avLst/>
          </a:prstGeom>
          <a:noFill/>
          <a:ln w="12700">
            <a:solidFill>
              <a:srgbClr val="16A085">
                <a:alpha val="82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08576" y="3493008"/>
            <a:ext cx="29718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Pac-Man has 3 lives.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If Pac-Man dies, the score resets to 0.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This creates a much stronger penalty for death.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8119872" y="274320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48472" y="29443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3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8348472" y="3310128"/>
            <a:ext cx="2971800" cy="0"/>
          </a:xfrm>
          <a:prstGeom prst="line">
            <a:avLst/>
          </a:prstGeom>
          <a:noFill/>
          <a:ln w="12700">
            <a:solidFill>
              <a:srgbClr val="D93025">
                <a:alpha val="82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48472" y="3493008"/>
            <a:ext cx="29718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Pac-Man has 3 lives.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If Pac-Man dies, the next life starts from a score below 0.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This is the harshest death penalty among the three models.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640080" y="513892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E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Start Values (if each death happens after reaching 1200 points)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40080" y="5376672"/>
            <a:ext cx="3429000" cy="1024128"/>
          </a:xfrm>
          <a:prstGeom prst="roundRect">
            <a:avLst>
              <a:gd name="adj" fmla="val 7143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68680" y="551383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1 Start Value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868680" y="5742432"/>
            <a:ext cx="2880360" cy="0"/>
          </a:xfrm>
          <a:prstGeom prst="line">
            <a:avLst/>
          </a:prstGeom>
          <a:noFill/>
          <a:ln w="12700">
            <a:solidFill>
              <a:srgbClr val="1E88E5">
                <a:alpha val="82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68680" y="588873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1: 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2: 1200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3: 2400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379976" y="5376672"/>
            <a:ext cx="3429000" cy="1024128"/>
          </a:xfrm>
          <a:prstGeom prst="roundRect">
            <a:avLst>
              <a:gd name="adj" fmla="val 7143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608576" y="551383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2 Start Value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4608576" y="5742432"/>
            <a:ext cx="2880360" cy="0"/>
          </a:xfrm>
          <a:prstGeom prst="line">
            <a:avLst/>
          </a:prstGeom>
          <a:noFill/>
          <a:ln w="12700">
            <a:solidFill>
              <a:srgbClr val="16A085">
                <a:alpha val="82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608576" y="588873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1: 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2: 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3: 0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8119872" y="5376672"/>
            <a:ext cx="3429000" cy="1024128"/>
          </a:xfrm>
          <a:prstGeom prst="roundRect">
            <a:avLst>
              <a:gd name="adj" fmla="val 7143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348472" y="551383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3 Start Value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8348472" y="5742432"/>
            <a:ext cx="2880360" cy="0"/>
          </a:xfrm>
          <a:prstGeom prst="line">
            <a:avLst/>
          </a:prstGeom>
          <a:noFill/>
          <a:ln w="12700">
            <a:solidFill>
              <a:srgbClr val="D93025">
                <a:alpha val="82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348472" y="588873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1: 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2: -360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3: -720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Pac-Man Reinforcement Learning</dc:title>
  <dc:subject>Pac-Man RL Presentation</dc:subject>
  <dc:creator>OpenAI Codex</dc:creator>
  <cp:lastModifiedBy>OpenAI Codex</cp:lastModifiedBy>
  <cp:revision>1</cp:revision>
  <dcterms:created xsi:type="dcterms:W3CDTF">2026-04-21T00:50:01Z</dcterms:created>
  <dcterms:modified xsi:type="dcterms:W3CDTF">2026-04-21T00:50:01Z</dcterms:modified>
</cp:coreProperties>
</file>
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rial"/>
      </a:defRPr>
    </a:lvl1pPr>
    <a:lvl2pPr indent="228600" latinLnBrk="0">
      <a:defRPr sz="1200">
        <a:latin typeface="+mj-lt"/>
        <a:ea typeface="+mj-ea"/>
        <a:cs typeface="+mj-cs"/>
        <a:sym typeface="Arial"/>
      </a:defRPr>
    </a:lvl2pPr>
    <a:lvl3pPr indent="457200" latinLnBrk="0">
      <a:defRPr sz="1200">
        <a:latin typeface="+mj-lt"/>
        <a:ea typeface="+mj-ea"/>
        <a:cs typeface="+mj-cs"/>
        <a:sym typeface="Arial"/>
      </a:defRPr>
    </a:lvl3pPr>
    <a:lvl4pPr indent="685800" latinLnBrk="0">
      <a:defRPr sz="1200">
        <a:latin typeface="+mj-lt"/>
        <a:ea typeface="+mj-ea"/>
        <a:cs typeface="+mj-cs"/>
        <a:sym typeface="Arial"/>
      </a:defRPr>
    </a:lvl4pPr>
    <a:lvl5pPr indent="914400" latinLnBrk="0">
      <a:defRPr sz="1200">
        <a:latin typeface="+mj-lt"/>
        <a:ea typeface="+mj-ea"/>
        <a:cs typeface="+mj-cs"/>
        <a:sym typeface="Arial"/>
      </a:defRPr>
    </a:lvl5pPr>
    <a:lvl6pPr indent="1143000" latinLnBrk="0">
      <a:defRPr sz="1200">
        <a:latin typeface="+mj-lt"/>
        <a:ea typeface="+mj-ea"/>
        <a:cs typeface="+mj-cs"/>
        <a:sym typeface="Arial"/>
      </a:defRPr>
    </a:lvl6pPr>
    <a:lvl7pPr indent="1371600" latinLnBrk="0">
      <a:defRPr sz="1200">
        <a:latin typeface="+mj-lt"/>
        <a:ea typeface="+mj-ea"/>
        <a:cs typeface="+mj-cs"/>
        <a:sym typeface="Arial"/>
      </a:defRPr>
    </a:lvl7pPr>
    <a:lvl8pPr indent="1600200" latinLnBrk="0">
      <a:defRPr sz="1200">
        <a:latin typeface="+mj-lt"/>
        <a:ea typeface="+mj-ea"/>
        <a:cs typeface="+mj-cs"/>
        <a:sym typeface="Arial"/>
      </a:defRPr>
    </a:lvl8pPr>
    <a:lvl9pPr indent="1828800" latinLnBrk="0"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Pac-Man — Search vs Reinforcement Learning</a:t>
            </a:r>
          </a:p>
        </p:txBody>
      </p:sp>
      <p:sp>
        <p:nvSpPr>
          <p:cNvPr id="23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F4B400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" name="Shape 3"/>
          <p:cNvSpPr/>
          <p:nvPr/>
        </p:nvSpPr>
        <p:spPr>
          <a:xfrm>
            <a:off x="640080" y="1280160"/>
            <a:ext cx="10927081" cy="566929"/>
          </a:xfrm>
          <a:prstGeom prst="roundRect">
            <a:avLst>
              <a:gd name="adj" fmla="val 129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" name="Text 4"/>
          <p:cNvSpPr txBox="1"/>
          <p:nvPr/>
        </p:nvSpPr>
        <p:spPr>
          <a:xfrm>
            <a:off x="896111" y="1458790"/>
            <a:ext cx="10415018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CS 520 Final Project — how do search and reinforcement-learning agents play Pac-Man?</a:t>
            </a:r>
          </a:p>
        </p:txBody>
      </p:sp>
      <p:sp>
        <p:nvSpPr>
          <p:cNvPr id="26" name="Text 5"/>
          <p:cNvSpPr txBox="1"/>
          <p:nvPr/>
        </p:nvSpPr>
        <p:spPr>
          <a:xfrm>
            <a:off x="640080" y="2016712"/>
            <a:ext cx="3657601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D8E2EE"/>
                </a:solidFill>
              </a:defRPr>
            </a:lvl1pPr>
          </a:lstStyle>
          <a:p>
            <a:pPr/>
            <a:r>
              <a:t>Team</a:t>
            </a:r>
          </a:p>
        </p:txBody>
      </p:sp>
      <p:sp>
        <p:nvSpPr>
          <p:cNvPr id="27" name="Shape 6"/>
          <p:cNvSpPr/>
          <p:nvPr/>
        </p:nvSpPr>
        <p:spPr>
          <a:xfrm>
            <a:off x="640080" y="2267711"/>
            <a:ext cx="3429001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Text 7"/>
          <p:cNvSpPr txBox="1"/>
          <p:nvPr/>
        </p:nvSpPr>
        <p:spPr>
          <a:xfrm>
            <a:off x="804671" y="2394479"/>
            <a:ext cx="3099818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Michael Liu</a:t>
            </a:r>
          </a:p>
        </p:txBody>
      </p:sp>
      <p:sp>
        <p:nvSpPr>
          <p:cNvPr id="29" name="Text 8"/>
          <p:cNvSpPr txBox="1"/>
          <p:nvPr/>
        </p:nvSpPr>
        <p:spPr>
          <a:xfrm>
            <a:off x="804671" y="2733293"/>
            <a:ext cx="30998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D8E2EE"/>
                </a:solidFill>
              </a:defRPr>
            </a:lvl1pPr>
          </a:lstStyle>
          <a:p>
            <a:pPr/>
            <a:r>
              <a:t>Lead Designer / Project Guide</a:t>
            </a:r>
          </a:p>
        </p:txBody>
      </p:sp>
      <p:sp>
        <p:nvSpPr>
          <p:cNvPr id="30" name="Shape 9"/>
          <p:cNvSpPr/>
          <p:nvPr/>
        </p:nvSpPr>
        <p:spPr>
          <a:xfrm>
            <a:off x="4379976" y="2267711"/>
            <a:ext cx="3429001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10"/>
          <p:cNvSpPr txBox="1"/>
          <p:nvPr/>
        </p:nvSpPr>
        <p:spPr>
          <a:xfrm>
            <a:off x="4544567" y="2394479"/>
            <a:ext cx="3099817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Ruiding Feng</a:t>
            </a:r>
          </a:p>
        </p:txBody>
      </p:sp>
      <p:sp>
        <p:nvSpPr>
          <p:cNvPr id="32" name="Text 11"/>
          <p:cNvSpPr txBox="1"/>
          <p:nvPr/>
        </p:nvSpPr>
        <p:spPr>
          <a:xfrm>
            <a:off x="4544567" y="2733293"/>
            <a:ext cx="3099817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D8E2EE"/>
                </a:solidFill>
              </a:defRPr>
            </a:lvl1pPr>
          </a:lstStyle>
          <a:p>
            <a:pPr/>
            <a:r>
              <a:t>Principal Implementer / Eval Study</a:t>
            </a:r>
          </a:p>
        </p:txBody>
      </p:sp>
      <p:sp>
        <p:nvSpPr>
          <p:cNvPr id="33" name="Shape 12"/>
          <p:cNvSpPr/>
          <p:nvPr/>
        </p:nvSpPr>
        <p:spPr>
          <a:xfrm>
            <a:off x="8119871" y="2267711"/>
            <a:ext cx="3429001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" name="Text 13"/>
          <p:cNvSpPr txBox="1"/>
          <p:nvPr/>
        </p:nvSpPr>
        <p:spPr>
          <a:xfrm>
            <a:off x="8284464" y="2394479"/>
            <a:ext cx="3099817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Zhichun Xiao</a:t>
            </a:r>
          </a:p>
        </p:txBody>
      </p:sp>
      <p:sp>
        <p:nvSpPr>
          <p:cNvPr id="35" name="Text 14"/>
          <p:cNvSpPr txBox="1"/>
          <p:nvPr/>
        </p:nvSpPr>
        <p:spPr>
          <a:xfrm>
            <a:off x="8284464" y="2733293"/>
            <a:ext cx="3099817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D8E2EE"/>
                </a:solidFill>
              </a:defRPr>
            </a:lvl1pPr>
          </a:lstStyle>
          <a:p>
            <a:pPr/>
            <a:r>
              <a:t>Report Writer</a:t>
            </a:r>
          </a:p>
        </p:txBody>
      </p:sp>
      <p:sp>
        <p:nvSpPr>
          <p:cNvPr id="36" name="Shape 15"/>
          <p:cNvSpPr/>
          <p:nvPr/>
        </p:nvSpPr>
        <p:spPr>
          <a:xfrm>
            <a:off x="640080" y="3291840"/>
            <a:ext cx="10927081" cy="2377441"/>
          </a:xfrm>
          <a:prstGeom prst="roundRect">
            <a:avLst>
              <a:gd name="adj" fmla="val 3077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Text 16"/>
          <p:cNvSpPr txBox="1"/>
          <p:nvPr/>
        </p:nvSpPr>
        <p:spPr>
          <a:xfrm>
            <a:off x="868679" y="3479267"/>
            <a:ext cx="10469882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What's in this deck</a:t>
            </a:r>
          </a:p>
        </p:txBody>
      </p:sp>
      <p:sp>
        <p:nvSpPr>
          <p:cNvPr id="38" name="Shape 17"/>
          <p:cNvSpPr/>
          <p:nvPr/>
        </p:nvSpPr>
        <p:spPr>
          <a:xfrm>
            <a:off x="868679" y="3794759"/>
            <a:ext cx="10469882" cy="1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Text 18"/>
          <p:cNvSpPr txBox="1"/>
          <p:nvPr/>
        </p:nvSpPr>
        <p:spPr>
          <a:xfrm>
            <a:off x="868679" y="3931920"/>
            <a:ext cx="10469882" cy="1010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Problem setup and how we measure agents.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• Four agent families: static A*, replanning A*, risk-aware A*, and tabular Q-learning.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• Score, survival, and risk-vs-reward results across 11 agents and 50 paired seeds.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• Cognitive-science angle: planning vs habit-learning.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• Takeaways and future work.</a:t>
            </a:r>
          </a:p>
        </p:txBody>
      </p:sp>
      <p:sp>
        <p:nvSpPr>
          <p:cNvPr id="40" name="Shape 19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" name="Text 20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Code · github.com/RichardFeng000/cs520-project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Problem Setup: Pac-Man as a Dynamic Grid</a:t>
            </a:r>
          </a:p>
        </p:txBody>
      </p:sp>
      <p:sp>
        <p:nvSpPr>
          <p:cNvPr id="46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1E88E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" name="Shape 3"/>
          <p:cNvSpPr/>
          <p:nvPr/>
        </p:nvSpPr>
        <p:spPr>
          <a:xfrm>
            <a:off x="640080" y="1243583"/>
            <a:ext cx="10927081" cy="548641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Text 4"/>
          <p:cNvSpPr txBox="1"/>
          <p:nvPr/>
        </p:nvSpPr>
        <p:spPr>
          <a:xfrm>
            <a:off x="896111" y="1419212"/>
            <a:ext cx="10415018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Pac-Man with 4 ghosts on a fixed maze. Eat every pellet before losing all 3 lives.</a:t>
            </a:r>
          </a:p>
        </p:txBody>
      </p:sp>
      <p:sp>
        <p:nvSpPr>
          <p:cNvPr id="49" name="Shape 5"/>
          <p:cNvSpPr/>
          <p:nvPr/>
        </p:nvSpPr>
        <p:spPr>
          <a:xfrm>
            <a:off x="640080" y="1920239"/>
            <a:ext cx="1755649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Text 6"/>
          <p:cNvSpPr txBox="1"/>
          <p:nvPr/>
        </p:nvSpPr>
        <p:spPr>
          <a:xfrm>
            <a:off x="777240" y="2067051"/>
            <a:ext cx="14813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D8E2EE"/>
                </a:solidFill>
              </a:defRPr>
            </a:lvl1pPr>
          </a:lstStyle>
          <a:p>
            <a:pPr/>
            <a:r>
              <a:t>MAZE</a:t>
            </a:r>
          </a:p>
        </p:txBody>
      </p:sp>
      <p:sp>
        <p:nvSpPr>
          <p:cNvPr id="51" name="Text 7"/>
          <p:cNvSpPr txBox="1"/>
          <p:nvPr/>
        </p:nvSpPr>
        <p:spPr>
          <a:xfrm>
            <a:off x="777240" y="2345896"/>
            <a:ext cx="1481329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28 × 36</a:t>
            </a:r>
          </a:p>
        </p:txBody>
      </p:sp>
      <p:sp>
        <p:nvSpPr>
          <p:cNvPr id="52" name="Shape 8"/>
          <p:cNvSpPr/>
          <p:nvPr/>
        </p:nvSpPr>
        <p:spPr>
          <a:xfrm>
            <a:off x="2468879" y="1920239"/>
            <a:ext cx="1755649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Text 9"/>
          <p:cNvSpPr txBox="1"/>
          <p:nvPr/>
        </p:nvSpPr>
        <p:spPr>
          <a:xfrm>
            <a:off x="2606039" y="2067051"/>
            <a:ext cx="14813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D8E2EE"/>
                </a:solidFill>
              </a:defRPr>
            </a:lvl1pPr>
          </a:lstStyle>
          <a:p>
            <a:pPr/>
            <a:r>
              <a:t>PELLETS</a:t>
            </a:r>
          </a:p>
        </p:txBody>
      </p:sp>
      <p:sp>
        <p:nvSpPr>
          <p:cNvPr id="54" name="Text 10"/>
          <p:cNvSpPr txBox="1"/>
          <p:nvPr/>
        </p:nvSpPr>
        <p:spPr>
          <a:xfrm>
            <a:off x="2606039" y="2345896"/>
            <a:ext cx="1481329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244 + 4 energizers</a:t>
            </a:r>
          </a:p>
        </p:txBody>
      </p:sp>
      <p:sp>
        <p:nvSpPr>
          <p:cNvPr id="55" name="Shape 11"/>
          <p:cNvSpPr/>
          <p:nvPr/>
        </p:nvSpPr>
        <p:spPr>
          <a:xfrm>
            <a:off x="4297679" y="1920239"/>
            <a:ext cx="1755649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Text 12"/>
          <p:cNvSpPr txBox="1"/>
          <p:nvPr/>
        </p:nvSpPr>
        <p:spPr>
          <a:xfrm>
            <a:off x="4434840" y="2067051"/>
            <a:ext cx="14813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D8E2EE"/>
                </a:solidFill>
              </a:defRPr>
            </a:lvl1pPr>
          </a:lstStyle>
          <a:p>
            <a:pPr/>
            <a:r>
              <a:t>GHOSTS</a:t>
            </a:r>
          </a:p>
        </p:txBody>
      </p:sp>
      <p:sp>
        <p:nvSpPr>
          <p:cNvPr id="57" name="Text 13"/>
          <p:cNvSpPr txBox="1"/>
          <p:nvPr/>
        </p:nvSpPr>
        <p:spPr>
          <a:xfrm>
            <a:off x="4434840" y="2345896"/>
            <a:ext cx="1481329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4 (mobile)</a:t>
            </a:r>
          </a:p>
        </p:txBody>
      </p:sp>
      <p:sp>
        <p:nvSpPr>
          <p:cNvPr id="58" name="Shape 14"/>
          <p:cNvSpPr/>
          <p:nvPr/>
        </p:nvSpPr>
        <p:spPr>
          <a:xfrm>
            <a:off x="6126479" y="1920239"/>
            <a:ext cx="1755649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15"/>
          <p:cNvSpPr txBox="1"/>
          <p:nvPr/>
        </p:nvSpPr>
        <p:spPr>
          <a:xfrm>
            <a:off x="6263640" y="2067051"/>
            <a:ext cx="14813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D8E2EE"/>
                </a:solidFill>
              </a:defRPr>
            </a:lvl1pPr>
          </a:lstStyle>
          <a:p>
            <a:pPr/>
            <a:r>
              <a:t>LIVES / CAP</a:t>
            </a:r>
          </a:p>
        </p:txBody>
      </p:sp>
      <p:sp>
        <p:nvSpPr>
          <p:cNvPr id="60" name="Text 16"/>
          <p:cNvSpPr txBox="1"/>
          <p:nvPr/>
        </p:nvSpPr>
        <p:spPr>
          <a:xfrm>
            <a:off x="6263640" y="2345896"/>
            <a:ext cx="1481329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3 / 900 steps</a:t>
            </a:r>
          </a:p>
        </p:txBody>
      </p:sp>
      <p:sp>
        <p:nvSpPr>
          <p:cNvPr id="61" name="Shape 17"/>
          <p:cNvSpPr/>
          <p:nvPr/>
        </p:nvSpPr>
        <p:spPr>
          <a:xfrm>
            <a:off x="7955280" y="1920239"/>
            <a:ext cx="1755649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Text 18"/>
          <p:cNvSpPr txBox="1"/>
          <p:nvPr/>
        </p:nvSpPr>
        <p:spPr>
          <a:xfrm>
            <a:off x="8092440" y="2067051"/>
            <a:ext cx="14813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D8E2EE"/>
                </a:solidFill>
              </a:defRPr>
            </a:lvl1pPr>
          </a:lstStyle>
          <a:p>
            <a:pPr/>
            <a:r>
              <a:t>EPISODES</a:t>
            </a:r>
          </a:p>
        </p:txBody>
      </p:sp>
      <p:sp>
        <p:nvSpPr>
          <p:cNvPr id="63" name="Text 19"/>
          <p:cNvSpPr txBox="1"/>
          <p:nvPr/>
        </p:nvSpPr>
        <p:spPr>
          <a:xfrm>
            <a:off x="8092440" y="2345896"/>
            <a:ext cx="1481329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50 paired seeds</a:t>
            </a:r>
          </a:p>
        </p:txBody>
      </p:sp>
      <p:sp>
        <p:nvSpPr>
          <p:cNvPr id="64" name="Shape 20"/>
          <p:cNvSpPr/>
          <p:nvPr/>
        </p:nvSpPr>
        <p:spPr>
          <a:xfrm>
            <a:off x="9784080" y="1920239"/>
            <a:ext cx="1755649" cy="786385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Text 21"/>
          <p:cNvSpPr txBox="1"/>
          <p:nvPr/>
        </p:nvSpPr>
        <p:spPr>
          <a:xfrm>
            <a:off x="9921240" y="2067051"/>
            <a:ext cx="14813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D8E2EE"/>
                </a:solidFill>
              </a:defRPr>
            </a:lvl1pPr>
          </a:lstStyle>
          <a:p>
            <a:pPr/>
            <a:r>
              <a:t>AGENTS</a:t>
            </a:r>
          </a:p>
        </p:txBody>
      </p:sp>
      <p:sp>
        <p:nvSpPr>
          <p:cNvPr id="66" name="Text 22"/>
          <p:cNvSpPr txBox="1"/>
          <p:nvPr/>
        </p:nvSpPr>
        <p:spPr>
          <a:xfrm>
            <a:off x="9921240" y="2345896"/>
            <a:ext cx="1481329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11 configs</a:t>
            </a:r>
          </a:p>
        </p:txBody>
      </p:sp>
      <p:sp>
        <p:nvSpPr>
          <p:cNvPr id="67" name="Shape 23"/>
          <p:cNvSpPr/>
          <p:nvPr/>
        </p:nvSpPr>
        <p:spPr>
          <a:xfrm>
            <a:off x="640080" y="2907792"/>
            <a:ext cx="5440680" cy="3291841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24"/>
          <p:cNvSpPr txBox="1"/>
          <p:nvPr/>
        </p:nvSpPr>
        <p:spPr>
          <a:xfrm>
            <a:off x="868680" y="3113854"/>
            <a:ext cx="4983480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How the maze maps to our problem</a:t>
            </a:r>
          </a:p>
        </p:txBody>
      </p:sp>
      <p:sp>
        <p:nvSpPr>
          <p:cNvPr id="69" name="Shape 25"/>
          <p:cNvSpPr/>
          <p:nvPr/>
        </p:nvSpPr>
        <p:spPr>
          <a:xfrm>
            <a:off x="868680" y="3410711"/>
            <a:ext cx="4983481" cy="1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" name="Text 26"/>
          <p:cNvSpPr txBox="1"/>
          <p:nvPr/>
        </p:nvSpPr>
        <p:spPr>
          <a:xfrm>
            <a:off x="868680" y="3547871"/>
            <a:ext cx="4983480" cy="884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• Open / blocked tiles   →   walkable / wall tiles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Goal                              →   eat every pellet to clear the level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Hazard tiles                  →   ghost tiles + the 4 squares around them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Random spread          →   ghosts move uniformly over legal directions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Risk weight λ                →   cost = path length + λ × expected ghost risk</a:t>
            </a:r>
          </a:p>
        </p:txBody>
      </p:sp>
      <p:sp>
        <p:nvSpPr>
          <p:cNvPr id="71" name="Shape 27"/>
          <p:cNvSpPr/>
          <p:nvPr/>
        </p:nvSpPr>
        <p:spPr>
          <a:xfrm>
            <a:off x="6126479" y="2907792"/>
            <a:ext cx="5440681" cy="3291841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28"/>
          <p:cNvSpPr txBox="1"/>
          <p:nvPr/>
        </p:nvSpPr>
        <p:spPr>
          <a:xfrm>
            <a:off x="6355079" y="3113854"/>
            <a:ext cx="4983481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How we score the agents</a:t>
            </a:r>
          </a:p>
        </p:txBody>
      </p:sp>
      <p:sp>
        <p:nvSpPr>
          <p:cNvPr id="73" name="Shape 29"/>
          <p:cNvSpPr/>
          <p:nvPr/>
        </p:nvSpPr>
        <p:spPr>
          <a:xfrm>
            <a:off x="6355079" y="3410711"/>
            <a:ext cx="4983482" cy="1"/>
          </a:xfrm>
          <a:prstGeom prst="line">
            <a:avLst/>
          </a:prstGeom>
          <a:ln w="12700">
            <a:solidFill>
              <a:srgbClr val="F4B400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" name="Text 30"/>
          <p:cNvSpPr txBox="1"/>
          <p:nvPr/>
        </p:nvSpPr>
        <p:spPr>
          <a:xfrm>
            <a:off x="6355079" y="3547871"/>
            <a:ext cx="4983481" cy="884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• Episode ends on the 3rd life lost, a level clear, or 900 steps.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Score = highest score the agent reached.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Time-to-failure = steps before the first death.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Hazard exposure = total steps spent within 2 tiles of a ghost.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Clear rate = fraction of episodes that ate every pellet.</a:t>
            </a:r>
          </a:p>
        </p:txBody>
      </p:sp>
      <p:sp>
        <p:nvSpPr>
          <p:cNvPr id="75" name="Shape 31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" name="Text 32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Every agent runs on the same 50 seeds {1000…1049}, so all comparisons are on identical starting conditions.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79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0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Agent Lineup — Four Families</a:t>
            </a:r>
          </a:p>
        </p:txBody>
      </p:sp>
      <p:sp>
        <p:nvSpPr>
          <p:cNvPr id="81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8E44AD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Shape 3"/>
          <p:cNvSpPr/>
          <p:nvPr/>
        </p:nvSpPr>
        <p:spPr>
          <a:xfrm>
            <a:off x="640080" y="1243583"/>
            <a:ext cx="10927081" cy="548641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Text 4"/>
          <p:cNvSpPr txBox="1"/>
          <p:nvPr/>
        </p:nvSpPr>
        <p:spPr>
          <a:xfrm>
            <a:off x="896111" y="1419212"/>
            <a:ext cx="10415018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f(n) = g(n) + h(n) + λ · E[risk(n)]      ·      Q(s,a) ← Q(s,a) + α · [r + γ · maxₐ' Q(s',a') − Q(s,a)]</a:t>
            </a:r>
          </a:p>
        </p:txBody>
      </p:sp>
      <p:sp>
        <p:nvSpPr>
          <p:cNvPr id="84" name="Shape 5"/>
          <p:cNvSpPr/>
          <p:nvPr/>
        </p:nvSpPr>
        <p:spPr>
          <a:xfrm>
            <a:off x="640080" y="1993392"/>
            <a:ext cx="5440680" cy="2057401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6"/>
          <p:cNvSpPr txBox="1"/>
          <p:nvPr/>
        </p:nvSpPr>
        <p:spPr>
          <a:xfrm>
            <a:off x="868680" y="2199454"/>
            <a:ext cx="4983480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Static A*</a:t>
            </a:r>
          </a:p>
        </p:txBody>
      </p:sp>
      <p:sp>
        <p:nvSpPr>
          <p:cNvPr id="86" name="Shape 7"/>
          <p:cNvSpPr/>
          <p:nvPr/>
        </p:nvSpPr>
        <p:spPr>
          <a:xfrm>
            <a:off x="868680" y="2496311"/>
            <a:ext cx="4983481" cy="1"/>
          </a:xfrm>
          <a:prstGeom prst="line">
            <a:avLst/>
          </a:prstGeom>
          <a:ln w="12700">
            <a:solidFill>
              <a:srgbClr val="1E88E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" name="Text 8"/>
          <p:cNvSpPr txBox="1"/>
          <p:nvPr/>
        </p:nvSpPr>
        <p:spPr>
          <a:xfrm>
            <a:off x="868680" y="2633471"/>
            <a:ext cx="4983480" cy="528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• Plans a path once at the start of the episode.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Only replans if the path becomes blocked or the target is eaten.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Doesn't react to ghosts. Our baseline search agent.</a:t>
            </a:r>
          </a:p>
        </p:txBody>
      </p:sp>
      <p:sp>
        <p:nvSpPr>
          <p:cNvPr id="88" name="Shape 9"/>
          <p:cNvSpPr/>
          <p:nvPr/>
        </p:nvSpPr>
        <p:spPr>
          <a:xfrm>
            <a:off x="6126479" y="1993392"/>
            <a:ext cx="5440681" cy="2057401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Text 10"/>
          <p:cNvSpPr txBox="1"/>
          <p:nvPr/>
        </p:nvSpPr>
        <p:spPr>
          <a:xfrm>
            <a:off x="6355079" y="2199454"/>
            <a:ext cx="4983481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Replanning A*</a:t>
            </a:r>
          </a:p>
        </p:txBody>
      </p:sp>
      <p:sp>
        <p:nvSpPr>
          <p:cNvPr id="90" name="Shape 11"/>
          <p:cNvSpPr/>
          <p:nvPr/>
        </p:nvSpPr>
        <p:spPr>
          <a:xfrm>
            <a:off x="6355079" y="2496311"/>
            <a:ext cx="4983482" cy="1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12"/>
          <p:cNvSpPr txBox="1"/>
          <p:nvPr/>
        </p:nvSpPr>
        <p:spPr>
          <a:xfrm>
            <a:off x="6355079" y="2633471"/>
            <a:ext cx="4983481" cy="528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• Recomputes the path every step.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Treats ghost tiles and the 4 squares around them as walls.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Falls back to a greedy step toward the nearest pellet if no path exists.</a:t>
            </a:r>
          </a:p>
        </p:txBody>
      </p:sp>
      <p:sp>
        <p:nvSpPr>
          <p:cNvPr id="92" name="Shape 13"/>
          <p:cNvSpPr/>
          <p:nvPr/>
        </p:nvSpPr>
        <p:spPr>
          <a:xfrm>
            <a:off x="6400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3" name="Text 14"/>
          <p:cNvSpPr txBox="1"/>
          <p:nvPr/>
        </p:nvSpPr>
        <p:spPr>
          <a:xfrm>
            <a:off x="868680" y="4320861"/>
            <a:ext cx="4983480" cy="209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Risk-Aware A*</a:t>
            </a:r>
          </a:p>
        </p:txBody>
      </p:sp>
      <p:sp>
        <p:nvSpPr>
          <p:cNvPr id="94" name="Shape 15"/>
          <p:cNvSpPr/>
          <p:nvPr/>
        </p:nvSpPr>
        <p:spPr>
          <a:xfrm>
            <a:off x="868680" y="4617720"/>
            <a:ext cx="4983481" cy="1"/>
          </a:xfrm>
          <a:prstGeom prst="line">
            <a:avLst/>
          </a:prstGeom>
          <a:ln w="12700">
            <a:solidFill>
              <a:srgbClr val="8E44AD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16"/>
          <p:cNvSpPr txBox="1"/>
          <p:nvPr/>
        </p:nvSpPr>
        <p:spPr>
          <a:xfrm>
            <a:off x="868680" y="4754879"/>
            <a:ext cx="4983480" cy="706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• Like Replanning A*, but each tile pays an extra cost for expected ghost risk.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Risk is estimated from one step of random ghost movement.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We swept λ over {0.5, 1, 2, 5}.</a:t>
            </a:r>
          </a:p>
        </p:txBody>
      </p:sp>
      <p:sp>
        <p:nvSpPr>
          <p:cNvPr id="96" name="Shape 17"/>
          <p:cNvSpPr/>
          <p:nvPr/>
        </p:nvSpPr>
        <p:spPr>
          <a:xfrm>
            <a:off x="6126479" y="4114800"/>
            <a:ext cx="5440681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18"/>
          <p:cNvSpPr txBox="1"/>
          <p:nvPr/>
        </p:nvSpPr>
        <p:spPr>
          <a:xfrm>
            <a:off x="6355079" y="4320861"/>
            <a:ext cx="4983481" cy="209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Tabular Q-learning — 3 death policies</a:t>
            </a:r>
          </a:p>
        </p:txBody>
      </p:sp>
      <p:sp>
        <p:nvSpPr>
          <p:cNvPr id="98" name="Shape 19"/>
          <p:cNvSpPr/>
          <p:nvPr/>
        </p:nvSpPr>
        <p:spPr>
          <a:xfrm>
            <a:off x="6355079" y="4617720"/>
            <a:ext cx="4983482" cy="1"/>
          </a:xfrm>
          <a:prstGeom prst="line">
            <a:avLst/>
          </a:prstGeom>
          <a:ln w="12700">
            <a:solidFill>
              <a:srgbClr val="F4B400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9" name="Text 20"/>
          <p:cNvSpPr txBox="1"/>
          <p:nvPr/>
        </p:nvSpPr>
        <p:spPr>
          <a:xfrm>
            <a:off x="6355079" y="4754879"/>
            <a:ext cx="4983481" cy="706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• 10-feature state. α = 0.18, γ = 0.95, ε from 0.12 with decay.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Trained for many episodes per model.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Three death penalties: Model 1 keep score · Model 2 zero on death · Model 3 ratcheting penalty.</a:t>
            </a:r>
          </a:p>
        </p:txBody>
      </p:sp>
      <p:sp>
        <p:nvSpPr>
          <p:cNvPr id="100" name="Shape 21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22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Two extra baselines (random and a hand-coded heuristic) run alongside the four families above.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5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Score Comparison (Figure 1)</a:t>
            </a:r>
          </a:p>
        </p:txBody>
      </p:sp>
      <p:sp>
        <p:nvSpPr>
          <p:cNvPr id="106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Shape 3"/>
          <p:cNvSpPr/>
          <p:nvPr/>
        </p:nvSpPr>
        <p:spPr>
          <a:xfrm>
            <a:off x="585216" y="1271016"/>
            <a:ext cx="7059169" cy="3767329"/>
          </a:xfrm>
          <a:prstGeom prst="roundRect">
            <a:avLst>
              <a:gd name="adj" fmla="val 1942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08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1325880"/>
            <a:ext cx="694944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Text 4"/>
          <p:cNvSpPr txBox="1"/>
          <p:nvPr/>
        </p:nvSpPr>
        <p:spPr>
          <a:xfrm>
            <a:off x="640079" y="5126018"/>
            <a:ext cx="69494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D8E2EE"/>
                </a:solidFill>
              </a:defRPr>
            </a:lvl1pPr>
          </a:lstStyle>
          <a:p>
            <a:pPr/>
            <a:r>
              <a:t>Mean peak score per episode (n=50). Black diamonds = single best run.</a:t>
            </a:r>
          </a:p>
        </p:txBody>
      </p:sp>
      <p:sp>
        <p:nvSpPr>
          <p:cNvPr id="110" name="Shape 5"/>
          <p:cNvSpPr/>
          <p:nvPr/>
        </p:nvSpPr>
        <p:spPr>
          <a:xfrm>
            <a:off x="7680959" y="1325880"/>
            <a:ext cx="3886201" cy="4114801"/>
          </a:xfrm>
          <a:prstGeom prst="roundRect">
            <a:avLst>
              <a:gd name="adj" fmla="val 188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Text 6"/>
          <p:cNvSpPr txBox="1"/>
          <p:nvPr/>
        </p:nvSpPr>
        <p:spPr>
          <a:xfrm>
            <a:off x="7909559" y="1531942"/>
            <a:ext cx="3429001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Read-outs</a:t>
            </a:r>
          </a:p>
        </p:txBody>
      </p:sp>
      <p:sp>
        <p:nvSpPr>
          <p:cNvPr id="112" name="Shape 7"/>
          <p:cNvSpPr/>
          <p:nvPr/>
        </p:nvSpPr>
        <p:spPr>
          <a:xfrm>
            <a:off x="7909559" y="1828800"/>
            <a:ext cx="3429001" cy="0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Text 8"/>
          <p:cNvSpPr txBox="1"/>
          <p:nvPr/>
        </p:nvSpPr>
        <p:spPr>
          <a:xfrm>
            <a:off x="7909559" y="1965960"/>
            <a:ext cx="3429001" cy="1417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• All three Q-learning agents top the planners on score: model 3 (3,757) &gt; model 2 (3,494) &gt; model 1 (3,249).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Planners cluster just behind at ≈3,150 (replan / risk-aware tied).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Heuristic (1,695) and astar_static (1,479) form the middle pack.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Random sanity floor: 167 ± 31.</a:t>
            </a:r>
          </a:p>
        </p:txBody>
      </p:sp>
      <p:sp>
        <p:nvSpPr>
          <p:cNvPr id="114" name="Shape 9"/>
          <p:cNvSpPr/>
          <p:nvPr/>
        </p:nvSpPr>
        <p:spPr>
          <a:xfrm>
            <a:off x="640080" y="5541264"/>
            <a:ext cx="10927081" cy="603505"/>
          </a:xfrm>
          <a:prstGeom prst="roundRect">
            <a:avLst>
              <a:gd name="adj" fmla="val 1212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5" name="Text 10"/>
          <p:cNvSpPr txBox="1"/>
          <p:nvPr/>
        </p:nvSpPr>
        <p:spPr>
          <a:xfrm>
            <a:off x="896111" y="5655216"/>
            <a:ext cx="10415018" cy="37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Take-away — Q-learning beats the planners across the board; heavier death penalty (model 1 → model 3) yields an even stronger policy.</a:t>
            </a:r>
          </a:p>
        </p:txBody>
      </p:sp>
      <p:sp>
        <p:nvSpPr>
          <p:cNvPr id="116" name="Shape 11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Text 12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Best single run: 7,800 (level cleared) — every Q-learning model and every planner reaches it on at least one seed.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Survival: Clear Rate, Deaths, Time-to-Failure (Figure 3)</a:t>
            </a:r>
          </a:p>
        </p:txBody>
      </p:sp>
      <p:sp>
        <p:nvSpPr>
          <p:cNvPr id="122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D9302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3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2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1280160"/>
            <a:ext cx="10927081" cy="2697480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Text 4"/>
          <p:cNvSpPr txBox="1"/>
          <p:nvPr/>
        </p:nvSpPr>
        <p:spPr>
          <a:xfrm>
            <a:off x="640079" y="4138467"/>
            <a:ext cx="1092708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D8E2EE"/>
                </a:solidFill>
              </a:defRPr>
            </a:lvl1pPr>
          </a:lstStyle>
          <a:p>
            <a:pPr/>
            <a:r>
              <a:t>Three views across all 11 agents (50 paired seeds each).</a:t>
            </a:r>
          </a:p>
        </p:txBody>
      </p:sp>
      <p:sp>
        <p:nvSpPr>
          <p:cNvPr id="126" name="Shape 5"/>
          <p:cNvSpPr/>
          <p:nvPr/>
        </p:nvSpPr>
        <p:spPr>
          <a:xfrm>
            <a:off x="640080" y="4434840"/>
            <a:ext cx="3611880" cy="1874521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Text 6"/>
          <p:cNvSpPr txBox="1"/>
          <p:nvPr/>
        </p:nvSpPr>
        <p:spPr>
          <a:xfrm>
            <a:off x="868679" y="4653186"/>
            <a:ext cx="3154682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Clear rate</a:t>
            </a:r>
          </a:p>
        </p:txBody>
      </p:sp>
      <p:sp>
        <p:nvSpPr>
          <p:cNvPr id="128" name="Shape 7"/>
          <p:cNvSpPr/>
          <p:nvPr/>
        </p:nvSpPr>
        <p:spPr>
          <a:xfrm>
            <a:off x="868679" y="4937759"/>
            <a:ext cx="3154682" cy="1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Text 8"/>
          <p:cNvSpPr txBox="1"/>
          <p:nvPr/>
        </p:nvSpPr>
        <p:spPr>
          <a:xfrm>
            <a:off x="868679" y="5074920"/>
            <a:ext cx="3154682" cy="757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Q-learning model 3 leads at 24%, model 2 at 20%, model 1 at 16%.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Replan / Risk-aware: 14%.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Static A*: 6% · Heuristic and Random never clear.</a:t>
            </a:r>
          </a:p>
        </p:txBody>
      </p:sp>
      <p:sp>
        <p:nvSpPr>
          <p:cNvPr id="130" name="Shape 9"/>
          <p:cNvSpPr/>
          <p:nvPr/>
        </p:nvSpPr>
        <p:spPr>
          <a:xfrm>
            <a:off x="4389120" y="4434840"/>
            <a:ext cx="3456433" cy="1874521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1" name="Text 10"/>
          <p:cNvSpPr txBox="1"/>
          <p:nvPr/>
        </p:nvSpPr>
        <p:spPr>
          <a:xfrm>
            <a:off x="4617720" y="4653186"/>
            <a:ext cx="2999233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Deaths per episode</a:t>
            </a:r>
          </a:p>
        </p:txBody>
      </p:sp>
      <p:sp>
        <p:nvSpPr>
          <p:cNvPr id="132" name="Shape 11"/>
          <p:cNvSpPr/>
          <p:nvPr/>
        </p:nvSpPr>
        <p:spPr>
          <a:xfrm>
            <a:off x="4617720" y="4937759"/>
            <a:ext cx="2999233" cy="1"/>
          </a:xfrm>
          <a:prstGeom prst="line">
            <a:avLst/>
          </a:prstGeom>
          <a:ln w="12700">
            <a:solidFill>
              <a:srgbClr val="D9302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3" name="Text 12"/>
          <p:cNvSpPr txBox="1"/>
          <p:nvPr/>
        </p:nvSpPr>
        <p:spPr>
          <a:xfrm>
            <a:off x="4617720" y="5074920"/>
            <a:ext cx="2999233" cy="757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Static A* and Random lose all 3 lives every episode.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Planners + Heuristic ≈ 2.8.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Q-learning: model 1 (2.55) → model 2 (2.35) → model 3 (2.15).</a:t>
            </a:r>
          </a:p>
        </p:txBody>
      </p:sp>
      <p:sp>
        <p:nvSpPr>
          <p:cNvPr id="134" name="Shape 13"/>
          <p:cNvSpPr/>
          <p:nvPr/>
        </p:nvSpPr>
        <p:spPr>
          <a:xfrm>
            <a:off x="7973568" y="4434840"/>
            <a:ext cx="3593593" cy="1874521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5" name="Text 14"/>
          <p:cNvSpPr txBox="1"/>
          <p:nvPr/>
        </p:nvSpPr>
        <p:spPr>
          <a:xfrm>
            <a:off x="8202168" y="4653186"/>
            <a:ext cx="3136393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Time-to-failure</a:t>
            </a:r>
          </a:p>
        </p:txBody>
      </p:sp>
      <p:sp>
        <p:nvSpPr>
          <p:cNvPr id="136" name="Shape 15"/>
          <p:cNvSpPr/>
          <p:nvPr/>
        </p:nvSpPr>
        <p:spPr>
          <a:xfrm>
            <a:off x="8202168" y="4937759"/>
            <a:ext cx="3136393" cy="1"/>
          </a:xfrm>
          <a:prstGeom prst="line">
            <a:avLst/>
          </a:prstGeom>
          <a:ln w="12700">
            <a:solidFill>
              <a:srgbClr val="F4B400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7" name="Text 16"/>
          <p:cNvSpPr txBox="1"/>
          <p:nvPr/>
        </p:nvSpPr>
        <p:spPr>
          <a:xfrm>
            <a:off x="8202168" y="5074920"/>
            <a:ext cx="3136393" cy="757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Q-learning: model 3 (220) &gt; model 2 (175) &gt; model 1 (130).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Heuristic ≈ 156 · Replan / Risk-aware ≈ 119.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Static A* dies at step 24 — walks into the first ghost it sees.</a:t>
            </a:r>
          </a:p>
        </p:txBody>
      </p:sp>
      <p:sp>
        <p:nvSpPr>
          <p:cNvPr id="138" name="Shape 17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Text 18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Take-away — Q-learning leads on every survival metric. Heavier death penalty produces a more cautious and longer-lived policy.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3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Q-learning: Death-Policy Ablation (Figure 7)</a:t>
            </a:r>
          </a:p>
        </p:txBody>
      </p:sp>
      <p:sp>
        <p:nvSpPr>
          <p:cNvPr id="144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F4B400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46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1280160"/>
            <a:ext cx="10927081" cy="2697480"/>
          </a:xfrm>
          <a:prstGeom prst="rect">
            <a:avLst/>
          </a:prstGeom>
          <a:ln w="12700">
            <a:miter lim="400000"/>
          </a:ln>
        </p:spPr>
      </p:pic>
      <p:sp>
        <p:nvSpPr>
          <p:cNvPr id="147" name="Text 4"/>
          <p:cNvSpPr txBox="1"/>
          <p:nvPr/>
        </p:nvSpPr>
        <p:spPr>
          <a:xfrm>
            <a:off x="640079" y="4138467"/>
            <a:ext cx="1092708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D8E2EE"/>
                </a:solidFill>
              </a:defRPr>
            </a:lvl1pPr>
          </a:lstStyle>
          <a:p>
            <a:pPr/>
            <a:r>
              <a:t>Mean score · clear rate · avg deaths · avg time-to-failure for the three death-penalty variants.</a:t>
            </a:r>
          </a:p>
        </p:txBody>
      </p:sp>
      <p:sp>
        <p:nvSpPr>
          <p:cNvPr id="148" name="Shape 5"/>
          <p:cNvSpPr/>
          <p:nvPr/>
        </p:nvSpPr>
        <p:spPr>
          <a:xfrm>
            <a:off x="640080" y="4434840"/>
            <a:ext cx="3611880" cy="1874521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Text 6"/>
          <p:cNvSpPr txBox="1"/>
          <p:nvPr/>
        </p:nvSpPr>
        <p:spPr>
          <a:xfrm>
            <a:off x="868679" y="4653186"/>
            <a:ext cx="3154682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Model 1 — keep score on death</a:t>
            </a:r>
          </a:p>
        </p:txBody>
      </p:sp>
      <p:sp>
        <p:nvSpPr>
          <p:cNvPr id="150" name="Shape 7"/>
          <p:cNvSpPr/>
          <p:nvPr/>
        </p:nvSpPr>
        <p:spPr>
          <a:xfrm>
            <a:off x="868679" y="4937759"/>
            <a:ext cx="3154682" cy="1"/>
          </a:xfrm>
          <a:prstGeom prst="line">
            <a:avLst/>
          </a:prstGeom>
          <a:ln w="12700">
            <a:solidFill>
              <a:srgbClr val="D9302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Text 8"/>
          <p:cNvSpPr txBox="1"/>
          <p:nvPr/>
        </p:nvSpPr>
        <p:spPr>
          <a:xfrm>
            <a:off x="868679" y="5074920"/>
            <a:ext cx="3154682" cy="1062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Lowest of the three (3,249 mean) but still tops every planner.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Hazard 78 · time-to-failure 130 · 8.3% level clears.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No death cost → policy is the riskiest of the three, but the value function still avoids ghosts well enough to win.</a:t>
            </a:r>
          </a:p>
        </p:txBody>
      </p:sp>
      <p:sp>
        <p:nvSpPr>
          <p:cNvPr id="152" name="Shape 9"/>
          <p:cNvSpPr/>
          <p:nvPr/>
        </p:nvSpPr>
        <p:spPr>
          <a:xfrm>
            <a:off x="4389120" y="4434840"/>
            <a:ext cx="3456433" cy="1874521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Text 10"/>
          <p:cNvSpPr txBox="1"/>
          <p:nvPr/>
        </p:nvSpPr>
        <p:spPr>
          <a:xfrm>
            <a:off x="4617720" y="4653186"/>
            <a:ext cx="2999233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Model 2 — zero score on death</a:t>
            </a:r>
          </a:p>
        </p:txBody>
      </p:sp>
      <p:sp>
        <p:nvSpPr>
          <p:cNvPr id="154" name="Shape 11"/>
          <p:cNvSpPr/>
          <p:nvPr/>
        </p:nvSpPr>
        <p:spPr>
          <a:xfrm>
            <a:off x="4617720" y="4937759"/>
            <a:ext cx="2999233" cy="1"/>
          </a:xfrm>
          <a:prstGeom prst="line">
            <a:avLst/>
          </a:prstGeom>
          <a:ln w="12700">
            <a:solidFill>
              <a:srgbClr val="F4B400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5" name="Text 12"/>
          <p:cNvSpPr txBox="1"/>
          <p:nvPr/>
        </p:nvSpPr>
        <p:spPr>
          <a:xfrm>
            <a:off x="4617720" y="5074920"/>
            <a:ext cx="2999233" cy="605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Middle score (3,494), hazard cut to 46.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Time-to-failure 175 steps · 10.2% level clears.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A balanced spot: chases score, but really tries not to die.</a:t>
            </a:r>
          </a:p>
        </p:txBody>
      </p:sp>
      <p:sp>
        <p:nvSpPr>
          <p:cNvPr id="156" name="Shape 13"/>
          <p:cNvSpPr/>
          <p:nvPr/>
        </p:nvSpPr>
        <p:spPr>
          <a:xfrm>
            <a:off x="7973568" y="4434840"/>
            <a:ext cx="3593593" cy="1874521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Text 14"/>
          <p:cNvSpPr txBox="1"/>
          <p:nvPr/>
        </p:nvSpPr>
        <p:spPr>
          <a:xfrm>
            <a:off x="8202168" y="4653186"/>
            <a:ext cx="3136393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Model 3 — scaled + ratcheting penalty</a:t>
            </a:r>
          </a:p>
        </p:txBody>
      </p:sp>
      <p:sp>
        <p:nvSpPr>
          <p:cNvPr id="158" name="Shape 15"/>
          <p:cNvSpPr/>
          <p:nvPr/>
        </p:nvSpPr>
        <p:spPr>
          <a:xfrm>
            <a:off x="8202168" y="4937759"/>
            <a:ext cx="3136393" cy="1"/>
          </a:xfrm>
          <a:prstGeom prst="line">
            <a:avLst/>
          </a:prstGeom>
          <a:ln w="12700">
            <a:solidFill>
              <a:srgbClr val="8E44AD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Text 16"/>
          <p:cNvSpPr txBox="1"/>
          <p:nvPr/>
        </p:nvSpPr>
        <p:spPr>
          <a:xfrm>
            <a:off x="8202168" y="5074920"/>
            <a:ext cx="3136393" cy="909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Best agent in the field (3,757 mean) and the safest.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Hazard 22 (about 1/5 of the planners) · time-to-failure 220 · 24.6% level clears.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Strong death penalty teaches the agent to survive — and surviving = more pellets.</a:t>
            </a:r>
          </a:p>
        </p:txBody>
      </p:sp>
      <p:sp>
        <p:nvSpPr>
          <p:cNvPr id="160" name="Shape 17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Text 18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Take-away — every variant beats the planners; heavier death penalty (1 → 3) makes the gap larger on every metric.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5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Risk vs Reward — The Central Finding (Figure 5)</a:t>
            </a:r>
          </a:p>
        </p:txBody>
      </p:sp>
      <p:sp>
        <p:nvSpPr>
          <p:cNvPr id="166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8E44AD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7" name="Shape 3"/>
          <p:cNvSpPr/>
          <p:nvPr/>
        </p:nvSpPr>
        <p:spPr>
          <a:xfrm>
            <a:off x="585216" y="1271016"/>
            <a:ext cx="7059169" cy="4133089"/>
          </a:xfrm>
          <a:prstGeom prst="roundRect">
            <a:avLst>
              <a:gd name="adj" fmla="val 17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68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1325880"/>
            <a:ext cx="6949441" cy="4023360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Text 4"/>
          <p:cNvSpPr txBox="1"/>
          <p:nvPr/>
        </p:nvSpPr>
        <p:spPr>
          <a:xfrm>
            <a:off x="640079" y="5491778"/>
            <a:ext cx="69494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D8E2EE"/>
                </a:solidFill>
              </a:defRPr>
            </a:lvl1pPr>
          </a:lstStyle>
          <a:p>
            <a:pPr/>
            <a:r>
              <a:t>Top-left = high score with low risk (the best place to be). Bold X = each agent's mean.</a:t>
            </a:r>
          </a:p>
        </p:txBody>
      </p:sp>
      <p:sp>
        <p:nvSpPr>
          <p:cNvPr id="170" name="Shape 5"/>
          <p:cNvSpPr/>
          <p:nvPr/>
        </p:nvSpPr>
        <p:spPr>
          <a:xfrm>
            <a:off x="7680959" y="1325880"/>
            <a:ext cx="3886201" cy="2103121"/>
          </a:xfrm>
          <a:prstGeom prst="roundRect">
            <a:avLst>
              <a:gd name="adj" fmla="val 347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Text 6"/>
          <p:cNvSpPr txBox="1"/>
          <p:nvPr/>
        </p:nvSpPr>
        <p:spPr>
          <a:xfrm>
            <a:off x="7909559" y="1538084"/>
            <a:ext cx="3429001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Three clusters</a:t>
            </a:r>
          </a:p>
        </p:txBody>
      </p:sp>
      <p:sp>
        <p:nvSpPr>
          <p:cNvPr id="172" name="Shape 7"/>
          <p:cNvSpPr/>
          <p:nvPr/>
        </p:nvSpPr>
        <p:spPr>
          <a:xfrm>
            <a:off x="7909559" y="1828800"/>
            <a:ext cx="3429001" cy="0"/>
          </a:xfrm>
          <a:prstGeom prst="line">
            <a:avLst/>
          </a:prstGeom>
          <a:ln w="12700">
            <a:solidFill>
              <a:srgbClr val="8E44AD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Text 8"/>
          <p:cNvSpPr txBox="1"/>
          <p:nvPr/>
        </p:nvSpPr>
        <p:spPr>
          <a:xfrm>
            <a:off x="7909559" y="1965960"/>
            <a:ext cx="3429001" cy="757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Q-learners → upper-left corner: score 3,249–3,757 with hazard 22–78.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Planners (replan / risk-aware) → middle: score ≈ 3,150, hazard ≈ 110.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Heuristic → far right: hazard 201, score 1,695.</a:t>
            </a:r>
          </a:p>
        </p:txBody>
      </p:sp>
      <p:sp>
        <p:nvSpPr>
          <p:cNvPr id="174" name="Shape 9"/>
          <p:cNvSpPr/>
          <p:nvPr/>
        </p:nvSpPr>
        <p:spPr>
          <a:xfrm>
            <a:off x="7680959" y="3520440"/>
            <a:ext cx="3886201" cy="2468881"/>
          </a:xfrm>
          <a:prstGeom prst="roundRect">
            <a:avLst>
              <a:gd name="adj" fmla="val 296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5" name="Text 10"/>
          <p:cNvSpPr txBox="1"/>
          <p:nvPr/>
        </p:nvSpPr>
        <p:spPr>
          <a:xfrm>
            <a:off x="7909559" y="3732644"/>
            <a:ext cx="3429001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Why this is the central finding</a:t>
            </a:r>
          </a:p>
        </p:txBody>
      </p:sp>
      <p:sp>
        <p:nvSpPr>
          <p:cNvPr id="176" name="Shape 11"/>
          <p:cNvSpPr/>
          <p:nvPr/>
        </p:nvSpPr>
        <p:spPr>
          <a:xfrm>
            <a:off x="7909559" y="4023359"/>
            <a:ext cx="3429001" cy="1"/>
          </a:xfrm>
          <a:prstGeom prst="line">
            <a:avLst/>
          </a:prstGeom>
          <a:ln w="12700">
            <a:solidFill>
              <a:srgbClr val="F4B400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Text 12"/>
          <p:cNvSpPr txBox="1"/>
          <p:nvPr/>
        </p:nvSpPr>
        <p:spPr>
          <a:xfrm>
            <a:off x="7909559" y="4160520"/>
            <a:ext cx="3429001" cy="1062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Q-learning has learned a value function that already includes ghost-avoidance.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All three variants beat the planners on score AND on hazard exposure.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Model 3 (3,757 / hazard 22) Pareto-dominates every other agent in the field.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This sets up the cognitive-science slide next.</a:t>
            </a:r>
          </a:p>
        </p:txBody>
      </p:sp>
      <p:sp>
        <p:nvSpPr>
          <p:cNvPr id="178" name="Shape 13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14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Hazard exposure = total steps with a ghost within 2 tiles.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Cognitive Science: Planning vs Habit-Learning</a:t>
            </a:r>
          </a:p>
        </p:txBody>
      </p:sp>
      <p:sp>
        <p:nvSpPr>
          <p:cNvPr id="184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Shape 3"/>
          <p:cNvSpPr/>
          <p:nvPr/>
        </p:nvSpPr>
        <p:spPr>
          <a:xfrm>
            <a:off x="640080" y="1243583"/>
            <a:ext cx="10927081" cy="548641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4"/>
          <p:cNvSpPr txBox="1"/>
          <p:nvPr/>
        </p:nvSpPr>
        <p:spPr>
          <a:xfrm>
            <a:off x="896111" y="1425354"/>
            <a:ext cx="10415018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Decker, Otto, Daw &amp; Hartley (2016) — "From Creatures of Habit to Goal-Directed Learners", Psychological Science.</a:t>
            </a:r>
          </a:p>
        </p:txBody>
      </p:sp>
      <p:sp>
        <p:nvSpPr>
          <p:cNvPr id="187" name="Shape 5"/>
          <p:cNvSpPr/>
          <p:nvPr/>
        </p:nvSpPr>
        <p:spPr>
          <a:xfrm>
            <a:off x="640080" y="1920239"/>
            <a:ext cx="10927081" cy="1783081"/>
          </a:xfrm>
          <a:prstGeom prst="roundRect">
            <a:avLst>
              <a:gd name="adj" fmla="val 41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Text 6"/>
          <p:cNvSpPr txBox="1"/>
          <p:nvPr/>
        </p:nvSpPr>
        <p:spPr>
          <a:xfrm>
            <a:off x="868679" y="2126302"/>
            <a:ext cx="10469882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Their idea ↔ Our agents</a:t>
            </a:r>
          </a:p>
        </p:txBody>
      </p:sp>
      <p:sp>
        <p:nvSpPr>
          <p:cNvPr id="189" name="Shape 7"/>
          <p:cNvSpPr/>
          <p:nvPr/>
        </p:nvSpPr>
        <p:spPr>
          <a:xfrm>
            <a:off x="868679" y="2423160"/>
            <a:ext cx="10469882" cy="1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Text 8"/>
          <p:cNvSpPr txBox="1"/>
          <p:nvPr/>
        </p:nvSpPr>
        <p:spPr>
          <a:xfrm>
            <a:off x="868679" y="2560320"/>
            <a:ext cx="10469882" cy="7062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• Habit-style learning (no simulation)   →   qlearning_model{1,2,3}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Planning (simulate, then act)                →   astar_replan &amp; astar_risk_l*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Planning that uses risk estimates       →   risk-aware A*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Two-stage MDP probe                              →   50-seed Monte Carlo on the maze</a:t>
            </a:r>
          </a:p>
        </p:txBody>
      </p:sp>
      <p:sp>
        <p:nvSpPr>
          <p:cNvPr id="191" name="Shape 9"/>
          <p:cNvSpPr/>
          <p:nvPr/>
        </p:nvSpPr>
        <p:spPr>
          <a:xfrm>
            <a:off x="640080" y="3794759"/>
            <a:ext cx="5440680" cy="2148841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2" name="Text 10"/>
          <p:cNvSpPr txBox="1"/>
          <p:nvPr/>
        </p:nvSpPr>
        <p:spPr>
          <a:xfrm>
            <a:off x="868680" y="4006964"/>
            <a:ext cx="4983480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Echo 1 — Both routes reach competent play</a:t>
            </a:r>
          </a:p>
        </p:txBody>
      </p:sp>
      <p:sp>
        <p:nvSpPr>
          <p:cNvPr id="193" name="Shape 11"/>
          <p:cNvSpPr/>
          <p:nvPr/>
        </p:nvSpPr>
        <p:spPr>
          <a:xfrm>
            <a:off x="868680" y="4297679"/>
            <a:ext cx="4983481" cy="1"/>
          </a:xfrm>
          <a:prstGeom prst="line">
            <a:avLst/>
          </a:prstGeom>
          <a:ln w="12700">
            <a:solidFill>
              <a:srgbClr val="8E44AD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4" name="Text 12"/>
          <p:cNvSpPr txBox="1"/>
          <p:nvPr/>
        </p:nvSpPr>
        <p:spPr>
          <a:xfrm>
            <a:off x="868680" y="4434840"/>
            <a:ext cx="4983480" cy="909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Decker et al.: more model-based reasoning → more reward in two-stage MDPs.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Our run: both families end up well above the heuristic — Q-learning 3,249–3,757, planners ≈ 3,150.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Clear rate: model 3 24% &gt; model 2 20% &gt; model 1 16% &gt; planners 14% &gt; Static A* 6%.</a:t>
            </a:r>
          </a:p>
        </p:txBody>
      </p:sp>
      <p:sp>
        <p:nvSpPr>
          <p:cNvPr id="195" name="Shape 13"/>
          <p:cNvSpPr/>
          <p:nvPr/>
        </p:nvSpPr>
        <p:spPr>
          <a:xfrm>
            <a:off x="6126479" y="3794759"/>
            <a:ext cx="5440681" cy="2148841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6" name="Text 14"/>
          <p:cNvSpPr txBox="1"/>
          <p:nvPr/>
        </p:nvSpPr>
        <p:spPr>
          <a:xfrm>
            <a:off x="6355079" y="4006964"/>
            <a:ext cx="4983481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Echo 2 — Habits and planning live side by side</a:t>
            </a:r>
          </a:p>
        </p:txBody>
      </p:sp>
      <p:sp>
        <p:nvSpPr>
          <p:cNvPr id="197" name="Shape 15"/>
          <p:cNvSpPr/>
          <p:nvPr/>
        </p:nvSpPr>
        <p:spPr>
          <a:xfrm>
            <a:off x="6355079" y="4297679"/>
            <a:ext cx="4983482" cy="1"/>
          </a:xfrm>
          <a:prstGeom prst="line">
            <a:avLst/>
          </a:prstGeom>
          <a:ln w="12700">
            <a:solidFill>
              <a:srgbClr val="1E88E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8" name="Text 16"/>
          <p:cNvSpPr txBox="1"/>
          <p:nvPr/>
        </p:nvSpPr>
        <p:spPr>
          <a:xfrm>
            <a:off x="6355079" y="4434840"/>
            <a:ext cx="4983481" cy="909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Their data: habits never disappear — they blend with planning.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Our run: Q-learning beats the planners on score AND spends 1.4–5× less time near ghosts.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Cached value can specialise for safety in ways a 1-step planner can't — both routes are useful.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Fig. 5 shows the same trade-off.</a:t>
            </a:r>
          </a:p>
        </p:txBody>
      </p:sp>
      <p:sp>
        <p:nvSpPr>
          <p:cNvPr id="199" name="Shape 17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0" name="Text 18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Risk-aware A* and Q-learning are complementary, not redundant. doi: 10.1177/0956797616639301.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4" name="Text 1"/>
          <p:cNvSpPr txBox="1"/>
          <p:nvPr/>
        </p:nvSpPr>
        <p:spPr>
          <a:xfrm>
            <a:off x="640079" y="567849"/>
            <a:ext cx="109270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Conclusions &amp; Future Work</a:t>
            </a:r>
          </a:p>
        </p:txBody>
      </p:sp>
      <p:sp>
        <p:nvSpPr>
          <p:cNvPr id="205" name="Shape 2"/>
          <p:cNvSpPr/>
          <p:nvPr/>
        </p:nvSpPr>
        <p:spPr>
          <a:xfrm>
            <a:off x="640079" y="1097280"/>
            <a:ext cx="10927082" cy="1"/>
          </a:xfrm>
          <a:prstGeom prst="line">
            <a:avLst/>
          </a:prstGeom>
          <a:ln w="12700">
            <a:solidFill>
              <a:srgbClr val="F4B400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Shape 3"/>
          <p:cNvSpPr/>
          <p:nvPr/>
        </p:nvSpPr>
        <p:spPr>
          <a:xfrm>
            <a:off x="640080" y="1243583"/>
            <a:ext cx="10927081" cy="548641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7" name="Text 4"/>
          <p:cNvSpPr txBox="1"/>
          <p:nvPr/>
        </p:nvSpPr>
        <p:spPr>
          <a:xfrm>
            <a:off x="896111" y="1419212"/>
            <a:ext cx="10415018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11 agents · 50 paired seeds · 28×36 Pac-Man — what we learned.</a:t>
            </a:r>
          </a:p>
        </p:txBody>
      </p:sp>
      <p:sp>
        <p:nvSpPr>
          <p:cNvPr id="208" name="Shape 5"/>
          <p:cNvSpPr/>
          <p:nvPr/>
        </p:nvSpPr>
        <p:spPr>
          <a:xfrm>
            <a:off x="640080" y="1920239"/>
            <a:ext cx="5440680" cy="1828801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9" name="Text 6"/>
          <p:cNvSpPr txBox="1"/>
          <p:nvPr/>
        </p:nvSpPr>
        <p:spPr>
          <a:xfrm>
            <a:off x="868680" y="2138586"/>
            <a:ext cx="498348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1. Replanning is what makes A* work</a:t>
            </a:r>
          </a:p>
        </p:txBody>
      </p:sp>
      <p:sp>
        <p:nvSpPr>
          <p:cNvPr id="210" name="Shape 7"/>
          <p:cNvSpPr/>
          <p:nvPr/>
        </p:nvSpPr>
        <p:spPr>
          <a:xfrm>
            <a:off x="868680" y="2423160"/>
            <a:ext cx="4983481" cy="1"/>
          </a:xfrm>
          <a:prstGeom prst="line">
            <a:avLst/>
          </a:prstGeom>
          <a:ln w="12700">
            <a:solidFill>
              <a:srgbClr val="1E88E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1" name="Text 8"/>
          <p:cNvSpPr txBox="1"/>
          <p:nvPr/>
        </p:nvSpPr>
        <p:spPr>
          <a:xfrm>
            <a:off x="868680" y="2560320"/>
            <a:ext cx="4983480" cy="300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Static A* loses to every replanning agent on every metric.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5× longer survival and ~2× higher score, just by replanning every step.</a:t>
            </a:r>
          </a:p>
        </p:txBody>
      </p:sp>
      <p:sp>
        <p:nvSpPr>
          <p:cNvPr id="212" name="Shape 9"/>
          <p:cNvSpPr/>
          <p:nvPr/>
        </p:nvSpPr>
        <p:spPr>
          <a:xfrm>
            <a:off x="6126479" y="1920239"/>
            <a:ext cx="5440681" cy="1828801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Text 10"/>
          <p:cNvSpPr txBox="1"/>
          <p:nvPr/>
        </p:nvSpPr>
        <p:spPr>
          <a:xfrm>
            <a:off x="6355079" y="2138586"/>
            <a:ext cx="498348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2. Risk-Aware A* ≈ Replanning A* here</a:t>
            </a:r>
          </a:p>
        </p:txBody>
      </p:sp>
      <p:sp>
        <p:nvSpPr>
          <p:cNvPr id="214" name="Shape 11"/>
          <p:cNvSpPr/>
          <p:nvPr/>
        </p:nvSpPr>
        <p:spPr>
          <a:xfrm>
            <a:off x="6355079" y="2423160"/>
            <a:ext cx="4983482" cy="1"/>
          </a:xfrm>
          <a:prstGeom prst="line">
            <a:avLst/>
          </a:prstGeom>
          <a:ln w="12700">
            <a:solidFill>
              <a:srgbClr val="8E44AD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5" name="Text 12"/>
          <p:cNvSpPr txBox="1"/>
          <p:nvPr/>
        </p:nvSpPr>
        <p:spPr>
          <a:xfrm>
            <a:off x="6355079" y="2560320"/>
            <a:ext cx="4983481" cy="452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Treating ghost squares as walls already removes most of the risk, so the λ·E[risk] term has little extra to do.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Risk-aware A* would shine in a sparser maze with fewer escape routes.</a:t>
            </a:r>
          </a:p>
        </p:txBody>
      </p:sp>
      <p:sp>
        <p:nvSpPr>
          <p:cNvPr id="216" name="Shape 13"/>
          <p:cNvSpPr/>
          <p:nvPr/>
        </p:nvSpPr>
        <p:spPr>
          <a:xfrm>
            <a:off x="640080" y="3840479"/>
            <a:ext cx="5440680" cy="1828801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7" name="Text 14"/>
          <p:cNvSpPr txBox="1"/>
          <p:nvPr/>
        </p:nvSpPr>
        <p:spPr>
          <a:xfrm>
            <a:off x="868680" y="4058826"/>
            <a:ext cx="498348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3. Q-learning beats planning on this maze</a:t>
            </a:r>
          </a:p>
        </p:txBody>
      </p:sp>
      <p:sp>
        <p:nvSpPr>
          <p:cNvPr id="218" name="Shape 15"/>
          <p:cNvSpPr/>
          <p:nvPr/>
        </p:nvSpPr>
        <p:spPr>
          <a:xfrm>
            <a:off x="868680" y="4343400"/>
            <a:ext cx="4983481" cy="0"/>
          </a:xfrm>
          <a:prstGeom prst="line">
            <a:avLst/>
          </a:prstGeom>
          <a:ln w="12700">
            <a:solidFill>
              <a:srgbClr val="16A08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9" name="Text 16"/>
          <p:cNvSpPr txBox="1"/>
          <p:nvPr/>
        </p:nvSpPr>
        <p:spPr>
          <a:xfrm>
            <a:off x="868680" y="4480559"/>
            <a:ext cx="4983480" cy="605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All three Q-learning models top the planners on score AND on hazard exposure.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Heavier death penalty → stronger policy: model 1 (3,249 / haz 78) → model 3 (3,757 / haz 22).</a:t>
            </a:r>
          </a:p>
        </p:txBody>
      </p:sp>
      <p:sp>
        <p:nvSpPr>
          <p:cNvPr id="220" name="Shape 17"/>
          <p:cNvSpPr/>
          <p:nvPr/>
        </p:nvSpPr>
        <p:spPr>
          <a:xfrm>
            <a:off x="6126479" y="3840479"/>
            <a:ext cx="5440681" cy="1828801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1" name="Text 18"/>
          <p:cNvSpPr txBox="1"/>
          <p:nvPr/>
        </p:nvSpPr>
        <p:spPr>
          <a:xfrm>
            <a:off x="6355079" y="4058826"/>
            <a:ext cx="498348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4. The heuristic survives longest but takes the most risk</a:t>
            </a:r>
          </a:p>
        </p:txBody>
      </p:sp>
      <p:sp>
        <p:nvSpPr>
          <p:cNvPr id="222" name="Shape 19"/>
          <p:cNvSpPr/>
          <p:nvPr/>
        </p:nvSpPr>
        <p:spPr>
          <a:xfrm>
            <a:off x="6355079" y="4343400"/>
            <a:ext cx="4983482" cy="0"/>
          </a:xfrm>
          <a:prstGeom prst="line">
            <a:avLst/>
          </a:prstGeom>
          <a:ln w="12700">
            <a:solidFill>
              <a:srgbClr val="D93025">
                <a:alpha val="7800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3" name="Text 20"/>
          <p:cNvSpPr txBox="1"/>
          <p:nvPr/>
        </p:nvSpPr>
        <p:spPr>
          <a:xfrm>
            <a:off x="6355079" y="4480559"/>
            <a:ext cx="4983481" cy="300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Survives 156 steps (longest of all agents) but hazard 201 (highest of all).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Useful contrast for the planner-vs-learner trade-off.</a:t>
            </a:r>
          </a:p>
        </p:txBody>
      </p:sp>
      <p:sp>
        <p:nvSpPr>
          <p:cNvPr id="224" name="Shape 21"/>
          <p:cNvSpPr/>
          <p:nvPr/>
        </p:nvSpPr>
        <p:spPr>
          <a:xfrm>
            <a:off x="640080" y="5760720"/>
            <a:ext cx="10927081" cy="548641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Text 22"/>
          <p:cNvSpPr txBox="1"/>
          <p:nvPr/>
        </p:nvSpPr>
        <p:spPr>
          <a:xfrm>
            <a:off x="896111" y="5948632"/>
            <a:ext cx="10415018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Future work — soften the ghost obstacles · plan further ahead · DQN from raw maze · learn the ghost movement model.</a:t>
            </a:r>
          </a:p>
        </p:txBody>
      </p:sp>
      <p:sp>
        <p:nvSpPr>
          <p:cNvPr id="226" name="Shape 23"/>
          <p:cNvSpPr/>
          <p:nvPr/>
        </p:nvSpPr>
        <p:spPr>
          <a:xfrm>
            <a:off x="640080" y="6345935"/>
            <a:ext cx="10927081" cy="384049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7" name="Text 24"/>
          <p:cNvSpPr txBox="1"/>
          <p:nvPr/>
        </p:nvSpPr>
        <p:spPr>
          <a:xfrm>
            <a:off x="896111" y="6464045"/>
            <a:ext cx="10415018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Code · github.com/RichardFeng000/cs520-project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
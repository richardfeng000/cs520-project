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Rules and Scoring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E88E5">
                <a:alpha val="72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97510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</a:t>
            </a:r>
            <a:endParaRPr lang="en-US" sz="1000" dirty="0"/>
          </a:p>
        </p:txBody>
      </p:sp>
      <p:pic>
        <p:nvPicPr>
          <p:cNvPr id="7" name="Image 1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194560"/>
            <a:ext cx="246888" cy="246888"/>
          </a:xfrm>
          <a:prstGeom prst="rect">
            <a:avLst/>
          </a:prstGeom>
        </p:spPr>
      </p:pic>
      <p:pic>
        <p:nvPicPr>
          <p:cNvPr id="8" name="Image 2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176" y="2194560"/>
            <a:ext cx="246888" cy="246888"/>
          </a:xfrm>
          <a:prstGeom prst="rect">
            <a:avLst/>
          </a:prstGeom>
        </p:spPr>
      </p:pic>
      <p:pic>
        <p:nvPicPr>
          <p:cNvPr id="9" name="Image 3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8216" y="2194560"/>
            <a:ext cx="246888" cy="24688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04672" y="2496312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lives</a:t>
            </a:r>
            <a:endParaRPr lang="en-US" sz="1100" dirty="0"/>
          </a:p>
        </p:txBody>
      </p:sp>
      <p:sp>
        <p:nvSpPr>
          <p:cNvPr id="11" name="Shape 5"/>
          <p:cNvSpPr/>
          <p:nvPr/>
        </p:nvSpPr>
        <p:spPr>
          <a:xfrm>
            <a:off x="260604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2788920" y="197510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296265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3163824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364992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767328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396849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70632" y="2459736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2100" dirty="0"/>
          </a:p>
        </p:txBody>
      </p:sp>
      <p:sp>
        <p:nvSpPr>
          <p:cNvPr id="20" name="Shape 14"/>
          <p:cNvSpPr/>
          <p:nvPr/>
        </p:nvSpPr>
        <p:spPr>
          <a:xfrm>
            <a:off x="4572000" y="1828800"/>
            <a:ext cx="196596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54880" y="19751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ENERGIZER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454396" y="2185416"/>
            <a:ext cx="201168" cy="20116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4736592" y="2459736"/>
            <a:ext cx="1636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＋50</a:t>
            </a:r>
            <a:endParaRPr lang="en-US" sz="2100" dirty="0"/>
          </a:p>
        </p:txBody>
      </p:sp>
      <p:sp>
        <p:nvSpPr>
          <p:cNvPr id="24" name="Shape 18"/>
          <p:cNvSpPr/>
          <p:nvPr/>
        </p:nvSpPr>
        <p:spPr>
          <a:xfrm>
            <a:off x="6720840" y="1828800"/>
            <a:ext cx="242316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03720" y="197510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BONUS</a:t>
            </a:r>
            <a:endParaRPr lang="en-US" sz="1000" dirty="0"/>
          </a:p>
        </p:txBody>
      </p:sp>
      <p:pic>
        <p:nvPicPr>
          <p:cNvPr id="26" name="Image 4" descr="/Users/fengruiding/Desktop/cs520/project/ppt_3pages/images/ui_ghost_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4404" y="2185416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67144" y="2478024"/>
            <a:ext cx="2130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 / +400 / +800 / +1600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9326880" y="1828800"/>
            <a:ext cx="224028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9509760" y="19751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</a:t>
            </a:r>
            <a:endParaRPr lang="en-US" sz="1000" dirty="0"/>
          </a:p>
        </p:txBody>
      </p:sp>
      <p:pic>
        <p:nvPicPr>
          <p:cNvPr id="30" name="Image 5" descr="/Users/fengruiding/Desktop/cs520/project/ppt_3pages/images/ui_fruit_cherri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4996" y="2157984"/>
            <a:ext cx="347472" cy="283464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491472" y="2487168"/>
            <a:ext cx="1911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1600" dirty="0"/>
          </a:p>
        </p:txBody>
      </p:sp>
      <p:sp>
        <p:nvSpPr>
          <p:cNvPr id="32" name="Shape 24"/>
          <p:cNvSpPr/>
          <p:nvPr/>
        </p:nvSpPr>
        <p:spPr>
          <a:xfrm>
            <a:off x="640080" y="2944368"/>
            <a:ext cx="5440680" cy="2834640"/>
          </a:xfrm>
          <a:prstGeom prst="roundRect">
            <a:avLst>
              <a:gd name="adj" fmla="val 258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3" name="Text 25"/>
          <p:cNvSpPr/>
          <p:nvPr/>
        </p:nvSpPr>
        <p:spPr>
          <a:xfrm>
            <a:off x="868680" y="31455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800" dirty="0"/>
          </a:p>
        </p:txBody>
      </p:sp>
      <p:sp>
        <p:nvSpPr>
          <p:cNvPr id="34" name="Shape 26"/>
          <p:cNvSpPr/>
          <p:nvPr/>
        </p:nvSpPr>
        <p:spPr>
          <a:xfrm>
            <a:off x="868680" y="3511296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868680" y="3694176"/>
            <a:ext cx="498348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player controls Pac-Man and clears the maze by eating all pellets and energizers.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Pac-Man starts the game with 3 lives.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Colliding with a normal ghost costs 1 life.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game ends when all 3 lives are lost.</a:t>
            </a:r>
            <a:endParaRPr lang="en-US" sz="1600" dirty="0"/>
          </a:p>
        </p:txBody>
      </p:sp>
      <p:sp>
        <p:nvSpPr>
          <p:cNvPr id="36" name="Shape 28"/>
          <p:cNvSpPr/>
          <p:nvPr/>
        </p:nvSpPr>
        <p:spPr>
          <a:xfrm>
            <a:off x="6291072" y="2944368"/>
            <a:ext cx="5276088" cy="2834640"/>
          </a:xfrm>
          <a:prstGeom prst="roundRect">
            <a:avLst>
              <a:gd name="adj" fmla="val 258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6519672" y="3145536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6519672" y="3511296"/>
            <a:ext cx="4818888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519672" y="3694176"/>
            <a:ext cx="481888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 regular pellet gives +10 points.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an energizer gives +50 points and makes ghosts vulnerable for a limited time.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vulnerable ghosts gives increasing bonus rewards: +200 / +400 / +800 / +1600.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Fruit appears at specific stages and gives bonus points when collected.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640080" y="5943600"/>
            <a:ext cx="10927080" cy="420624"/>
          </a:xfrm>
          <a:prstGeom prst="roundRect">
            <a:avLst>
              <a:gd name="adj" fmla="val 1739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896112" y="6108192"/>
            <a:ext cx="10415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objective: score as much as possible while surviving long enough to clear the maze.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Q-Learning Update Rule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6A085">
                <a:alpha val="7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1444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Markov Decision Process (MDP)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1664208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Q(s,a) ← Q(s,a) + α[r + γ max_a' Q(s',a') − Q(s,a)]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40080" y="1993392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formula updates action values from reward and future return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322576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4323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PELLET/E.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77240" y="2670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+10/+50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478024" y="2322576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615184" y="24323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FRUIT/GHOST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615184" y="2670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Bns/+200~1600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15968" y="2322576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53128" y="24323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ESCAPE/CHASE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453128" y="2670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+1.5/+3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153912" y="2322576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91072" y="24323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FRUIT/CLEAR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291072" y="2670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+2/+500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991856" y="2322576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29016" y="24323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STEP/PRESS.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129016" y="2670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-1/-0.5×P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829800" y="2322576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966960" y="24323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TIMEOUT/DEATH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9966960" y="2670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-250/Large-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3255264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8680" y="3456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Rewards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868680" y="3822192"/>
            <a:ext cx="2999232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68680" y="4005072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Pellet: +10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Energizer: +50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Fruit collection: fruit bonus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Vulnerable ghost combo: +200 / +400 / +800 / +1600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370832" y="3255264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99432" y="3456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Shaping Rewards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4599432" y="3822192"/>
            <a:ext cx="2999232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99432" y="4005072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Escape a nearby dangerous ghost: +1.5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 closer to a vulnerable ghost: +3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 closer to fruit: +2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the level: +500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8110728" y="3255264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339328" y="3456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Penalties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8339328" y="3822192"/>
            <a:ext cx="2999232" cy="0"/>
          </a:xfrm>
          <a:prstGeom prst="line">
            <a:avLst/>
          </a:prstGeom>
          <a:noFill/>
          <a:ln w="12700">
            <a:solidFill>
              <a:srgbClr val="D93025">
                <a:alpha val="8200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339328" y="4005072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Step cost: -1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Danger pressure: -0.5 × threat pressure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Timeout at 900 steps: -250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Death: large negative reward including score reset loss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F4B400">
                <a:alpha val="72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554480"/>
            <a:ext cx="10927080" cy="512064"/>
          </a:xfrm>
          <a:prstGeom prst="roundRect">
            <a:avLst>
              <a:gd name="adj" fmla="val 1428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719072"/>
            <a:ext cx="10415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clear the level without losing a single life.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40080" y="2267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Death Handling Mechanisms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2560320"/>
            <a:ext cx="2331720" cy="0"/>
          </a:xfrm>
          <a:prstGeom prst="line">
            <a:avLst/>
          </a:prstGeom>
          <a:noFill/>
          <a:ln w="12700">
            <a:solidFill>
              <a:srgbClr val="F4B400">
                <a:alpha val="82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274320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94436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68680" y="3310128"/>
            <a:ext cx="2971800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3493008"/>
            <a:ext cx="297180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Pac-Man has 3 lives.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Rewards keep accumulating across lives.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Dying does not reset the score.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379976" y="274320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08576" y="294436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4608576" y="3310128"/>
            <a:ext cx="2971800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08576" y="3493008"/>
            <a:ext cx="297180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Pac-Man has 3 lives.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If Pac-Man dies, the score resets to 0.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This creates a much stronger penalty for death.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119872" y="274320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348472" y="294436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348472" y="3310128"/>
            <a:ext cx="2971800" cy="0"/>
          </a:xfrm>
          <a:prstGeom prst="line">
            <a:avLst/>
          </a:prstGeom>
          <a:noFill/>
          <a:ln w="12700">
            <a:solidFill>
              <a:srgbClr val="D93025">
                <a:alpha val="82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348472" y="3493008"/>
            <a:ext cx="297180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Pac-Man has 3 lives.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If Pac-Man dies, the next life starts from a score below 0.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This is the harshest death penalty among the three models.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40080" y="513892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Start Values (if each death happens after reaching 1200 points)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0080" y="5376672"/>
            <a:ext cx="3429000" cy="1024128"/>
          </a:xfrm>
          <a:prstGeom prst="roundRect">
            <a:avLst>
              <a:gd name="adj" fmla="val 71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68680" y="551383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 Start Value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868680" y="5742432"/>
            <a:ext cx="2880360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68680" y="58887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1: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2: 1200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3: 2400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379976" y="5376672"/>
            <a:ext cx="3429000" cy="1024128"/>
          </a:xfrm>
          <a:prstGeom prst="roundRect">
            <a:avLst>
              <a:gd name="adj" fmla="val 71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608576" y="551383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 Start Value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608576" y="5742432"/>
            <a:ext cx="2880360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608576" y="58887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1: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2: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3: 0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119872" y="5376672"/>
            <a:ext cx="3429000" cy="1024128"/>
          </a:xfrm>
          <a:prstGeom prst="roundRect">
            <a:avLst>
              <a:gd name="adj" fmla="val 71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48472" y="551383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 Start Value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348472" y="5742432"/>
            <a:ext cx="2880360" cy="0"/>
          </a:xfrm>
          <a:prstGeom prst="line">
            <a:avLst/>
          </a:prstGeom>
          <a:noFill/>
          <a:ln w="12700">
            <a:solidFill>
              <a:srgbClr val="D93025">
                <a:alpha val="8200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48472" y="58887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1: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2: -360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3: -720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Pac-Man Reinforcement Learning</dc:title>
  <dc:subject>Pac-Man RL Presentation</dc:subject>
  <dc:creator>OpenAI Codex</dc:creator>
  <cp:lastModifiedBy>OpenAI Codex</cp:lastModifiedBy>
  <cp:revision>1</cp:revision>
  <dcterms:created xsi:type="dcterms:W3CDTF">2026-04-21T00:54:14Z</dcterms:created>
  <dcterms:modified xsi:type="dcterms:W3CDTF">2026-04-21T00:54:14Z</dcterms:modified>
</cp:coreProperties>
</file>
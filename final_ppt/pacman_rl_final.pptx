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— Search vs Reinforcement 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8016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89888"/>
            <a:ext cx="104150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 520 Final Project — how do search and reinforcement-learning agents play Pac-Man?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40080" y="19933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04672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Michael Liu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04672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Designer / Project Guide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379976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44568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Ruiding Feng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4544568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 Implementer / Eval Study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119872" y="2267712"/>
            <a:ext cx="3429000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84464" y="2359152"/>
            <a:ext cx="3099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Zhichun Xiao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8284464" y="2679192"/>
            <a:ext cx="3099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 Writer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40080" y="3291840"/>
            <a:ext cx="10927080" cy="2377440"/>
          </a:xfrm>
          <a:prstGeom prst="roundRect">
            <a:avLst>
              <a:gd name="adj" fmla="val 3077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34564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in this deck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868680" y="37947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68680" y="3931920"/>
            <a:ext cx="104698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Problem setup and how we measure agents.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Four agent families: static A*, replanning A*, risk-aware A*, and tabular Q-learning.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Score, survival, and risk-vs-reward results across 11 agents and 50 paired seeds.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Cognitive-science angle: planning vs habit-learning.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Takeaways and future work.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Setup: Pac-Man as a Dynamic Grid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Pac-Man with 4 ghosts on a fixed maze. Eat every pellet before losing all 3 lives.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MAZE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77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× 36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24688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6060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PELLETS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26060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244 + 4 energizers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976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4348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44348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(mobile)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1264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2636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LIVES / CAP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2636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900 steps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0924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EPISODES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80924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paired seeds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784080" y="1920240"/>
            <a:ext cx="1755648" cy="786384"/>
          </a:xfrm>
          <a:prstGeom prst="roundRect">
            <a:avLst>
              <a:gd name="adj" fmla="val 93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921240" y="2029968"/>
            <a:ext cx="14813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9921240" y="2249424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configs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686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the maze maps to our problem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68680" y="34107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86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Open / blocked tiles   →   walkable / wall tiles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Goal                              →   eat every pellet to clear the level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tiles                  →   ghost tiles + the 4 squares around them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spread          →   ghosts move uniformly over legal directions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weight λ                →   cost = path length + λ × expected ghost risk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126480" y="2907792"/>
            <a:ext cx="5440680" cy="3291840"/>
          </a:xfrm>
          <a:prstGeom prst="roundRect">
            <a:avLst>
              <a:gd name="adj" fmla="val 222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355080" y="30723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score the agents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6355080" y="3410712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55080" y="3547872"/>
            <a:ext cx="498348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Episode ends on the 3rd life lost, a level clear, or 900 steps.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Score = highest score the agent reached.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= steps before the first death.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exposure = total steps spent within 2 tiles of a ghost.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Clear rate = fraction of episodes that ate every pellet.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agent runs on the same 50 seeds {1000…1049}, so all comparisons are on identical starting conditions.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Lineup — Four Families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f(n) = g(n) + h(n) + λ · E[risk(n)]      ·      Q(s,a) ← Q(s,a) + α · [r + γ · maxₐ' Q(s',a') − Q(s,a)]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A*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96312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Plans a path once at the start of the episode.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Only replans if the path becomes blocked or the target is eaten.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Doesn't react to ghosts. Our baseline search agent.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126480" y="1993392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157984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Replanning A*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6355080" y="2496312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633472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Recomputes the path every step.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Treats ghost tiles and the 4 squares around them as walls.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Falls back to a greedy step toward the nearest pellet if no path exists.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400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61772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Like Replanning A*, but each tile pays an extra cost for expected ghost risk.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 is estimated from one step of random ghost movement.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 swept λ over {0.5, 1, 2, 5}.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126480" y="4114800"/>
            <a:ext cx="5440680" cy="2057400"/>
          </a:xfrm>
          <a:prstGeom prst="roundRect">
            <a:avLst>
              <a:gd name="adj" fmla="val 3556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27939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Q-learning — 3 death policies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355080" y="4617720"/>
            <a:ext cx="49834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754880"/>
            <a:ext cx="4983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10-feature state. α = 0.18, γ = 0.95, ε from 0.12 with decay.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Trained for many episodes per model.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Three death penalties: Model 1 keep score · Model 2 zero on death · Model 3 ratcheting penalty.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extra baselines (random and a hand-coded heuristic) run alongside the four families above.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Comparison (Figure 1)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3767328"/>
          </a:xfrm>
          <a:prstGeom prst="roundRect">
            <a:avLst>
              <a:gd name="adj" fmla="val 1942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1_score_ba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36576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07492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peak score per episode (n=50). Black diamonds = single best run.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4114800"/>
          </a:xfrm>
          <a:prstGeom prst="roundRect">
            <a:avLst>
              <a:gd name="adj" fmla="val 188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Read-outs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3337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qlearning_model1 (3,265) narrowly tops the field; planners cluster just behind at ≈3,150.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qlearning_model2 (2,871) and model3 (2,349) trail — death penalty trades score for safety.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(1,695) and astar_static (1,479) form the middle pack.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Random sanity floor: 167 ± 31.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40080" y="5541264"/>
            <a:ext cx="10927080" cy="603504"/>
          </a:xfrm>
          <a:prstGeom prst="roundRect">
            <a:avLst>
              <a:gd name="adj" fmla="val 12121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96112" y="5650992"/>
            <a:ext cx="104150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Q-learning matches the planners on score, and the model 1→model 3 spread (3,265→2,349) shows what the death policy controls.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Best single run: astar_replan / astar_risk = 7,800 (cleared the level on 14% of seeds out of 50).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Survival: Clear Rate, Deaths, Time-to-Failure (Figure 3)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3_survival_pane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views across all 11 agents (50 paired seeds each).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Clear rate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1 leads at 18%.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Replan / Risk-aware: 14% · model 2: 12%.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model 3: 6%.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and Random never clear.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Deaths per episode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and Random lose all 3 lives every episode.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+ Heuristic ≈ 2.8 · model 1: 2.50 · model 2: 2.40.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3 has the fewest deaths (2.20).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Time-to-failure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model 3 survives longest (235 steps), then model 2 (195) and model 1 (165).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≈ 156 · Replan / Risk-aware ≈ 119.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dies at step 24 — walks into the first ghost it sees.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high score and long survival aren't the same goal. Planners chase score, the heuristic chases survival, and Q-learning's death policy is the knob between them.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 vs Reward — The Central Finding (Figure 5)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71016"/>
            <a:ext cx="7059168" cy="4133088"/>
          </a:xfrm>
          <a:prstGeom prst="roundRect">
            <a:avLst>
              <a:gd name="adj" fmla="val 1770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5_risk_rew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6949440" cy="40233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44068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Top-left = high score with low risk (the best place to be). Bold X = each agent's mean.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680960" y="1325880"/>
            <a:ext cx="3886200" cy="2103120"/>
          </a:xfrm>
          <a:prstGeom prst="roundRect">
            <a:avLst>
              <a:gd name="adj" fmla="val 347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09560" y="149047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clusters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7909560" y="1828800"/>
            <a:ext cx="342900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1965960"/>
            <a:ext cx="3429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Q-learners → upper-left, hazard 22–92, score 2,349–3,265.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Planners (replan / risk-aware) → middle, hazard ≈ 110, score ≈ 3,150.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Heuristic → far right, hazard ≈ 201, score ≈ 1,695.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7680960" y="3520440"/>
            <a:ext cx="3886200" cy="2468880"/>
          </a:xfrm>
          <a:prstGeom prst="roundRect">
            <a:avLst>
              <a:gd name="adj" fmla="val 296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09560" y="3685032"/>
            <a:ext cx="3429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the central finding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09560" y="4023360"/>
            <a:ext cx="342900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909560" y="4160520"/>
            <a:ext cx="34290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learned to stay away from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1 matches planner score and spends 1.2× less time near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3 gives up 26% of its score for 5× less time near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This sets up the cognitive-science slide next.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Hazard exposure = total steps with a ghost within 2 tiles.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Q-learning: Death-Policy Ablation (Figure 7)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85216" y="1225296"/>
            <a:ext cx="11036808" cy="2807208"/>
          </a:xfrm>
          <a:prstGeom prst="roundRect">
            <a:avLst>
              <a:gd name="adj" fmla="val 2606"/>
            </a:avLst>
          </a:prstGeom>
          <a:solidFill>
            <a:srgbClr val="FFFFFF">
              <a:alpha val="92000"/>
            </a:srgbClr>
          </a:solidFill>
          <a:ln w="12700">
            <a:solidFill>
              <a:srgbClr val="D9E2EC"/>
            </a:solidFill>
            <a:prstDash val="solid"/>
          </a:ln>
        </p:spPr>
      </p:sp>
      <p:pic>
        <p:nvPicPr>
          <p:cNvPr id="7" name="Image 1" descr="/Users/michael.liu/Documents/School/CS520/cs520-project/notebooks/figures/fig07_qlearning_abl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80160"/>
            <a:ext cx="10927080" cy="26974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4096512"/>
            <a:ext cx="10927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D8E2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 score · clear rate · avg deaths · avg time-to-failure for the three death-penalty variants.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443484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868680" y="459943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1 — keep score on death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868680" y="4937760"/>
            <a:ext cx="31546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68680" y="5074920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Top score in the field (3,265 mean).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92 · time-to-failure 165 · 18%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 barely costs the agent, so it grabs every pellet — but still learns to dodge.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389120" y="4434840"/>
            <a:ext cx="345643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4617720" y="4599432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2 — zero score on death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4617720" y="4937760"/>
            <a:ext cx="2999232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4617720" y="5074920"/>
            <a:ext cx="2999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Middle score (2,871), hazard cut to 52.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Time-to-failure 195 steps · 12%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 balanced spot: still chases score, but really tries not to die.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73568" y="4434840"/>
            <a:ext cx="3593592" cy="1874520"/>
          </a:xfrm>
          <a:prstGeom prst="roundRect">
            <a:avLst>
              <a:gd name="adj" fmla="val 3902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202168" y="4599432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3 — scaled + ratcheting penalty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202168" y="4937760"/>
            <a:ext cx="3136392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8202168" y="5074920"/>
            <a:ext cx="313639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Lowest score of the three (2,349) but the safest agent in the field.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Hazard 22 (about 1/5 of the planners) · time-to-failure 235 · 6% level clears.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Strong death penalty teaches survival first; score is the trade-off.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Take-away — the death penalty is a cautiousness dial: harsher penalty ⇒ less score, but less time near ghosts.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Cognitive Science: Planning vs Habit-Learning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Decker, Otto, Daw &amp; Hartley (2016) — "From Creatures of Habit to Goal-Directed Learners", Psychological Science.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10927080" cy="1783080"/>
          </a:xfrm>
          <a:prstGeom prst="roundRect">
            <a:avLst>
              <a:gd name="adj" fmla="val 410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10469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idea ↔ Our agents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104698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10469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Habit-style learning (no simulation)   →   qlearning_model{1,2,3}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(simulate, then act)                →   astar_replan &amp; astar_risk_l*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Planning that uses risk estimates       →   risk-aware A*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Two-stage MDP probe                              →   50-seed Monte Carlo on the maze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400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686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1 — Planning earns more on average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8680" y="429768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686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Decker et al.: more planning → more reward.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planners ≈ 3,150 vs Q-learning 2,349–3,265 — a small but consistent edge for 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Everyone clears the level sometimes: planners 14%, model 1 18%, model 2 12%, model 3 6%.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126480" y="3794760"/>
            <a:ext cx="5440680" cy="2148840"/>
          </a:xfrm>
          <a:prstGeom prst="roundRect">
            <a:avLst>
              <a:gd name="adj" fmla="val 3404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355080" y="395935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Echo 2 — Habits and planning live side by side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355080" y="429768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355080" y="44348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Their data: habits never disappear — they blend with planning.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Our run: model 1 matches planner score with 1.2× less time near ghosts; model 3 gives up 26% score for 5× less time near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Q-learning has its own niche: cautious play that still scores.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Fig. 5 shows the same trade-off.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Risk-aware A* and Q-learning are complementary, not redundant. doi: 10.1177/0956797616639301.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michael.liu/Documents/School/CS520/cs520-project/final_ppt/images/pacman_neon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4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640080" y="420624"/>
            <a:ext cx="10927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Conclusions &amp; Future Work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640080" y="1097280"/>
            <a:ext cx="10927080" cy="0"/>
          </a:xfrm>
          <a:prstGeom prst="line">
            <a:avLst/>
          </a:prstGeom>
          <a:noFill/>
          <a:ln w="12700">
            <a:solidFill>
              <a:srgbClr val="F4B400">
                <a:alpha val="7800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1243584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F4B40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96112" y="1353312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agents · 50 paired seeds · 28×36 Pac-Man — what we learned.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686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Replanning is what makes A* work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868680" y="2423160"/>
            <a:ext cx="4983480" cy="0"/>
          </a:xfrm>
          <a:prstGeom prst="line">
            <a:avLst/>
          </a:prstGeom>
          <a:noFill/>
          <a:ln w="12700">
            <a:solidFill>
              <a:srgbClr val="1E88E5">
                <a:alpha val="7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686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Static A* loses to every replanning agent on every metric.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5× longer survival and ~2× higher score, just by replanning every step.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26480" y="192024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8E44A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355080" y="208483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Risk-Aware A* ≈ Replanning A* here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355080" y="2423160"/>
            <a:ext cx="4983480" cy="0"/>
          </a:xfrm>
          <a:prstGeom prst="line">
            <a:avLst/>
          </a:prstGeom>
          <a:noFill/>
          <a:ln w="12700">
            <a:solidFill>
              <a:srgbClr val="8E44AD">
                <a:alpha val="7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355080" y="256032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Treating ghost squares as walls already removes most of the risk, so the λ·E[risk] term has little extra to do.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Risk-aware A* would shine in a sparser maze with fewer escape routes.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16A085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686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Q-learning matches planning, with less risk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868680" y="4343400"/>
            <a:ext cx="4983480" cy="0"/>
          </a:xfrm>
          <a:prstGeom prst="line">
            <a:avLst/>
          </a:prstGeom>
          <a:noFill/>
          <a:ln w="12700">
            <a:solidFill>
              <a:srgbClr val="16A085">
                <a:alpha val="7800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686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Model 1 ties the planners on score (3,265) and spends 1.2× less time near ghosts.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Death policy is a cautiousness dial: model 1 (3,265 / haz 92) → model 3 (2,349 / haz 22).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6126480" y="38404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3025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355080" y="4005072"/>
            <a:ext cx="4983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heuristic survives longest but takes the most risk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6355080" y="4343400"/>
            <a:ext cx="4983480" cy="0"/>
          </a:xfrm>
          <a:prstGeom prst="line">
            <a:avLst/>
          </a:prstGeom>
          <a:noFill/>
          <a:ln w="12700">
            <a:solidFill>
              <a:srgbClr val="D93025">
                <a:alpha val="78000"/>
              </a:srgbClr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355080" y="4480560"/>
            <a:ext cx="4983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Survives 156 steps (longest of all agents) but hazard 201 (highest of all).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Useful contrast for the planner-vs-learner trade-off.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40080" y="5760720"/>
            <a:ext cx="10927080" cy="548640"/>
          </a:xfrm>
          <a:prstGeom prst="roundRect">
            <a:avLst>
              <a:gd name="adj" fmla="val 13333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96112" y="5870448"/>
            <a:ext cx="104150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work — soften the ghost obstacles · plan further ahead · DQN from raw maze · learn the ghost movement model.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640080" y="6345936"/>
            <a:ext cx="10927080" cy="384048"/>
          </a:xfrm>
          <a:prstGeom prst="roundRect">
            <a:avLst>
              <a:gd name="adj" fmla="val 19048"/>
            </a:avLst>
          </a:prstGeom>
          <a:solidFill>
            <a:srgbClr val="1A2030">
              <a:alpha val="80000"/>
            </a:srgbClr>
          </a:solidFill>
          <a:ln w="12700">
            <a:solidFill>
              <a:srgbClr val="D9E2E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896112" y="6455664"/>
            <a:ext cx="104150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· github.com/RichardFeng000/cs520-project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UMass Amherst — CS 520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Decision-Theoretic Navigation Under Uncertainty</dc:title>
  <dc:subject>Pac-Man RL Final Presentation</dc:subject>
  <dc:creator>Michael Liu, Ruiding Feng, Zhichun Xiao</dc:creator>
  <cp:lastModifiedBy>Michael Liu, Ruiding Feng, Zhichun Xiao</cp:lastModifiedBy>
  <cp:revision>1</cp:revision>
  <dcterms:created xsi:type="dcterms:W3CDTF">2026-05-05T09:18:32Z</dcterms:created>
  <dcterms:modified xsi:type="dcterms:W3CDTF">2026-05-05T09:18:32Z</dcterms:modified>
</cp:coreProperties>
</file>
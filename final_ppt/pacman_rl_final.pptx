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Decision-Theoretic Navigation Under Uncertainty in Dynamic Grids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8016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89888"/>
            <a:ext cx="10415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520 Final Project — Pac-Man as a controlled instance of mobile, partially-observable hazards.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93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Liu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04672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Designer / Project Guide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44568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Ruiding Feng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44568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Implementer / Eval Study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19872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84464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Zhichun Xiao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84464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Writer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3200400"/>
            <a:ext cx="10927080" cy="1554480"/>
          </a:xfrm>
          <a:prstGeom prst="roundRect">
            <a:avLst>
              <a:gd name="adj" fmla="val 470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336499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68680" y="370332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384048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much does explicit reasoning about future hazard locations help an agent navigate a dynamic grid?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does it compare to (a) reactive replanning, (b) hand-tuned heuristic behaviour, and (c) reinforcement learning?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Answered with 11 agent configurations × 50 paired-seed Monte-Carlo episodes on the canonical 28×36 Pac-Man maze.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40080" y="4846320"/>
            <a:ext cx="10927080" cy="1463040"/>
          </a:xfrm>
          <a:prstGeom prst="roundRect">
            <a:avLst>
              <a:gd name="adj" fmla="val 5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8680" y="501091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Findings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68680" y="5349240"/>
            <a:ext cx="104698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8680" y="548640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Replanning A* and Risk-Aware A* tie for top mean score (~3,150) and top clear rate (14% of seeds).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(no replan) reaches 1,479 mean score but dies at step 24 — replanning is the load-bearing trick.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earns ~½ the score but ~6–12× lower hazard exposure — a fundamentally cautious learned policy.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Hand-coded heuristic survives longest (156 steps) but spends the most time near ghosts (hazard 201).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       Figures reproducible via Agents/eval/render_figures.py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Setup: Pac-Man as a Dynamic Grid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Mobile, partially-observable hazards (ghosts) on a fixed maze. Goal: clear all pellets before losing 3 lives.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MAZE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77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× 36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688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060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6060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+ 4 energizers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348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4348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(mobile)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264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/ CAP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2636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900 steps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924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EPISODES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0924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paired seeds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784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921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921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configs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concept ↔ Pac-Man instance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68680" y="34107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86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Open / blocked cells   →   walkable tiles / wall tiles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Goal cell                       →   eat all pellets (clear the level)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Hazardous cells          →   active non-scared ghost cells (+ 1-step neighbourhood)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Stochastic spread       →   stochastic ghost movement (uniform-on-legal-moves model)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sensitivity λ    →   λ in f(n) = g(n) + h(n) + λ · E[risk(n)]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1264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550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Termination &amp; metrics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355080" y="3410712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550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Episode ends on 3rd life lost, level cleared, or 900-step cap.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 = peak score reached during the episode.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= steps until first life lost.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exposure = cumulative steps within Manhattan ≤ 2 of any non-scared ghost.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rate = fraction of episodes that finish all pellets + energizers.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agents share the same seed pool {1000…1049}, so every comparison is paired on identical initial conditions.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Lineup — Four Families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f(n) = g(n) + h(n) + λ · E[risk(n)]      ·      Q(s,a) ← Q(s,a) + α · [r + γ · maxₐ' Q(s',a') − Q(s,a)]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A* — proposal §5.1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96312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Plans once at episode start, only replans on block / target consumed.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Hazards ignored — proposal's baseline search agent.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Faithful reproduction of the "no-replan" baseline.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Replanning A* — proposal §5.2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55080" y="24963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Replans every step.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Treats current ghost cell + 1-step neighbours as hard walls.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Falls back to greedy Manhattan when no path exists.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A* — proposal §5.3 (decision-theoretic)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61772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Same skeleton as Replanning A*, edge cost = 1 + λ · E[risk(n,t)].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E[risk(n,t)] from uniform-on-legal-moves ghost transition kernel.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λ ∈ {0.5, 1, 2, 5} swept; admissible heuristic preserved.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1264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Q-learning — 3 death policies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355080" y="4617720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550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10-feature bucketed state · α = 0.18, γ = 0.95, ε ↓ from 0.12.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12,000 training episodes per model.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1 keep-score · Model 2 zero-on-death · Model 3 scaled penalty + ratchet.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sanity baselines (random + hand-coded heuristic) accompany the four families above.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Comparison (Figure 1)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71016"/>
            <a:ext cx="7059168" cy="3767328"/>
          </a:xfrm>
          <a:prstGeom prst="roundRect">
            <a:avLst>
              <a:gd name="adj" fmla="val 1942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1_score_b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949440" cy="3657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0749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peak score per episode (n=50). Black diamonds = single best run.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4114800"/>
          </a:xfrm>
          <a:prstGeom prst="roundRect">
            <a:avLst>
              <a:gd name="adj" fmla="val 188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Read-outs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1965960"/>
            <a:ext cx="3429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astar_replan (3181) and astar_risk_l* (≈3143) pile together — ~2× the next group.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(1695) now leads the middle pack ahead of astar_static (1479) and qlearning_model1 (1439).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models 2/3 sit lower (962, 656) — strong death penalty trades score for caution.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sanity floor: 167 ± 31.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541264"/>
            <a:ext cx="10927080" cy="603504"/>
          </a:xfrm>
          <a:prstGeom prst="roundRect">
            <a:avLst>
              <a:gd name="adj" fmla="val 1212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96112" y="5650992"/>
            <a:ext cx="10415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the ~2× gap between static A* and the replanning family is the largest architectural delta in the project.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single run: astar_replan / astar_risk = 7,800 (cleared the level on 14% of seeds in n=50).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Survival: Clear Rate, Deaths, Time-to-Failure (Figure 3)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3_survival_pane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Three-panel comparison across all 11 agents (50 paired seeds each).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rate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Only the search agents ever clear the level.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 / Risk-aware: 14%.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Static: 6%.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Q-learning model and no heuristic clears once.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Deaths per episode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and Q-learning models 2/3 lose all 3 lives every episode.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Replan, Risk-aware and Heuristic ≈ 2.8 deaths.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baseline always dies 3 times.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Time-to-failure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survives longest (156 steps) — sacrifices score for survival.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 / Risk-aware ≈ 119 steps before first death.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dies at step 24 — walks into the first ghost it sees.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high score and long survival are not the same thing; the heuristic optimises survival, the planners optimise score.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Reward — The Central Finding (Figure 5)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71016"/>
            <a:ext cx="7059168" cy="4133088"/>
          </a:xfrm>
          <a:prstGeom prst="roundRect">
            <a:avLst>
              <a:gd name="adj" fmla="val 17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5_risk_rew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949440" cy="4023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4406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Pareto-good region is upper-left (high score, low hazard). Bold X = per-agent centroid.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2103120"/>
          </a:xfrm>
          <a:prstGeom prst="roundRect">
            <a:avLst>
              <a:gd name="adj" fmla="val 347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clusters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196596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Q-learners → upper-left, hazard ≈ 9–19.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(replan / risk-aware) → middle, hazard ≈ 110, score ≈ 3,150.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→ far right, hazard ≈ 201, score ≈ 1,695.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680960" y="3520440"/>
            <a:ext cx="3886200" cy="2468880"/>
          </a:xfrm>
          <a:prstGeom prst="roundRect">
            <a:avLst>
              <a:gd name="adj" fmla="val 296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09560" y="368503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central finding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09560" y="4023360"/>
            <a:ext cx="342900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909560" y="4160520"/>
            <a:ext cx="3429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has learned a fundamentally more risk-averse policy.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~½ the score for ~6–12× less time within ghost-radius 2.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Planned vs cached-value control occupy different Pareto niches — neither dominates.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Sets up the cognitive-science mapping in §10.1.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exposure = cumulative steps within Manhattan distance 2 of any active non-scared ghost.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Q-learning: Death-Policy Ablation (Figure 7)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7_qlearning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score · clear rate · avg deaths · avg time-to-failure across the three death-penalty variants.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 — keep score on death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Most score-greedy (1439 mean).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Longest TTF among the three (≈101 steps).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Death-as-pause encourages risk-tolerant pellet grabs.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 — zero score on death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Sits in the middle (962 mean, ≈87 step TTF).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Heavily discourages dying without destabilising training.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Lowest hazard exposure of the three (~15).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— scaled + ratcheting penalty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Lowest score (656 mean) but TTF ≈ 89 steps after extra training.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≈ 9 — the most cautious of the three.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Strong penalty teaches survival; score-greed has to be re-learned.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the death penalty is a tunable cautiousness knob: stronger penalty ⇒ less score, but lower hazard exposure.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§10.1 — Cognitive Science: Model-Based Control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Decker, Otto, Daw &amp; Hartley (2016) — "From Creatures of Habit to Goal-Directed Learners", Psychological Science.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0927080" cy="1783080"/>
          </a:xfrm>
          <a:prstGeom prst="roundRect">
            <a:avLst>
              <a:gd name="adj" fmla="val 41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08483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construct ↔ Our instantiation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560320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Model-free RL (cached value, no simulation)   →   qlearning_model{1,2,3}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Model-based RL (simulate, plan response)       →   astar_replan &amp; astar_risk_l*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Working-memory-gated planning                       →   E[risk] via transition_distribution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Two-stage MDP probe                                          →   50-seed Monte Carlo over the maze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1 — Model-based wins on raw score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8680" y="429768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44348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Decker et al.: adults with stronger model-based contributions earn significantly more reward.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planners ≈ 3,150 vs Q-learning 656–1,439 mean score.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are the only family that ever clears the level (14%).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12648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2 — Model-free + model-based coexist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355080" y="429768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44348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Their data: model-free habits don't vanish in adults — they are blended with planning.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Q-learners earn less score but spend ~6–12× less time within ghost-radius 2.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Cached-value strategy occupies a genuine niche: caution under uncertainty.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Fig. 5 Pareto plot is the same coexistence claim in miniature.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Justifies risk-aware A* + Q-learning as complementary, not redundant. doi: 10.1177/0956797616639301.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&amp; Future Work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agents · 50 paired seeds · canonical 28×36 Pac-Man — a clean answer to the proposal's research question.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Replanning is the load-bearing innovation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is dominated on every metric by every replanning method.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5× longer TTF and ~2× higher score with no algorithmic change beyond "rerun every step".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Risk-Aware A* ≈ Replanning A* on this maze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355080" y="242316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ghost masking covers most of the risk before the soft λ·E[risk] term can act.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Predicted dominance window of proposal §7 sits outside max-entropy + nearest-pellet.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Q-learning is competitive and more cautious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68680" y="4343400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~6–12× less hazard exposure for ~½ the score vs replanning.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 policy is a tunable cautiousness knob (model 1 ≫ model 2 ≫ model 3 in score).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264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Heuristic is longest-surviving but highest-exposure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355080" y="4343400"/>
            <a:ext cx="49834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550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156-step TTF (longest of all agents) but hazard 201 (highest of all).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Useful foil that makes the planner / learner trade-offs concrete.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76072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112" y="5870448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 — soften ghost-cell obstacles for λ·E[risk] to act · longer-horizon planning · DQN over raw maze · learned ghost transition kernel.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       Figures reproducible via Agents/eval/render_figures.py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UMass Amherst — CS 520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Decision-Theoretic Navigation Under Uncertainty</dc:title>
  <dc:subject>Pac-Man RL Final Presentation</dc:subject>
  <dc:creator>Michael Liu, Ruiding Feng, Zhichun Xiao</dc:creator>
  <cp:lastModifiedBy>Michael Liu, Ruiding Feng, Zhichun Xiao</cp:lastModifiedBy>
  <cp:revision>1</cp:revision>
  <dcterms:created xsi:type="dcterms:W3CDTF">2026-05-04T22:30:43Z</dcterms:created>
  <dcterms:modified xsi:type="dcterms:W3CDTF">2026-05-04T22:30:43Z</dcterms:modified>
</cp:coreProperties>
</file>
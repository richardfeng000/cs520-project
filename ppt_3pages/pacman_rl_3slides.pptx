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ruiding/Desktop/cs520/project/ppt_3pages/pacman_neon_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Rules and Scoring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1E88E5">
                <a:alpha val="72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0080" y="1828800"/>
            <a:ext cx="1783080" cy="932688"/>
          </a:xfrm>
          <a:prstGeom prst="roundRect">
            <a:avLst>
              <a:gd name="adj" fmla="val 7843"/>
            </a:avLst>
          </a:prstGeom>
          <a:solidFill>
            <a:srgbClr val="0D1520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97510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</a:t>
            </a:r>
            <a:endParaRPr lang="en-US" sz="1000" dirty="0"/>
          </a:p>
        </p:txBody>
      </p:sp>
      <p:pic>
        <p:nvPicPr>
          <p:cNvPr id="7" name="Image 1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194560"/>
            <a:ext cx="246888" cy="246888"/>
          </a:xfrm>
          <a:prstGeom prst="rect">
            <a:avLst/>
          </a:prstGeom>
        </p:spPr>
      </p:pic>
      <p:pic>
        <p:nvPicPr>
          <p:cNvPr id="8" name="Image 2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176" y="2194560"/>
            <a:ext cx="246888" cy="246888"/>
          </a:xfrm>
          <a:prstGeom prst="rect">
            <a:avLst/>
          </a:prstGeom>
        </p:spPr>
      </p:pic>
      <p:pic>
        <p:nvPicPr>
          <p:cNvPr id="9" name="Image 3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8216" y="2194560"/>
            <a:ext cx="246888" cy="24688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804672" y="2496312"/>
            <a:ext cx="1453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lives</a:t>
            </a:r>
            <a:endParaRPr lang="en-US" sz="1100" dirty="0"/>
          </a:p>
        </p:txBody>
      </p:sp>
      <p:sp>
        <p:nvSpPr>
          <p:cNvPr id="11" name="Shape 5"/>
          <p:cNvSpPr/>
          <p:nvPr/>
        </p:nvSpPr>
        <p:spPr>
          <a:xfrm>
            <a:off x="2606040" y="1828800"/>
            <a:ext cx="1783080" cy="932688"/>
          </a:xfrm>
          <a:prstGeom prst="roundRect">
            <a:avLst>
              <a:gd name="adj" fmla="val 7843"/>
            </a:avLst>
          </a:prstGeom>
          <a:solidFill>
            <a:srgbClr val="0D1520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2" name="Text 6"/>
          <p:cNvSpPr/>
          <p:nvPr/>
        </p:nvSpPr>
        <p:spPr>
          <a:xfrm>
            <a:off x="2788920" y="197510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PELLET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2962656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3163824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3364992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566160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767328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3968496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70632" y="2459736"/>
            <a:ext cx="1453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2100" dirty="0"/>
          </a:p>
        </p:txBody>
      </p:sp>
      <p:sp>
        <p:nvSpPr>
          <p:cNvPr id="20" name="Shape 14"/>
          <p:cNvSpPr/>
          <p:nvPr/>
        </p:nvSpPr>
        <p:spPr>
          <a:xfrm>
            <a:off x="4572000" y="1828800"/>
            <a:ext cx="1965960" cy="932688"/>
          </a:xfrm>
          <a:prstGeom prst="roundRect">
            <a:avLst>
              <a:gd name="adj" fmla="val 7843"/>
            </a:avLst>
          </a:prstGeom>
          <a:solidFill>
            <a:srgbClr val="0D1520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4754880" y="197510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ENERGIZER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454396" y="2185416"/>
            <a:ext cx="201168" cy="20116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4736592" y="2459736"/>
            <a:ext cx="1636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＋50</a:t>
            </a:r>
            <a:endParaRPr lang="en-US" sz="2100" dirty="0"/>
          </a:p>
        </p:txBody>
      </p:sp>
      <p:sp>
        <p:nvSpPr>
          <p:cNvPr id="24" name="Shape 18"/>
          <p:cNvSpPr/>
          <p:nvPr/>
        </p:nvSpPr>
        <p:spPr>
          <a:xfrm>
            <a:off x="6720840" y="1828800"/>
            <a:ext cx="2423160" cy="932688"/>
          </a:xfrm>
          <a:prstGeom prst="roundRect">
            <a:avLst>
              <a:gd name="adj" fmla="val 7843"/>
            </a:avLst>
          </a:prstGeom>
          <a:solidFill>
            <a:srgbClr val="0D152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903720" y="197510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BONUS</a:t>
            </a:r>
            <a:endParaRPr lang="en-US" sz="1000" dirty="0"/>
          </a:p>
        </p:txBody>
      </p:sp>
      <p:pic>
        <p:nvPicPr>
          <p:cNvPr id="26" name="Image 4" descr="/Users/fengruiding/Desktop/cs520/project/ppt_3pages/ui_ghost_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4404" y="2185416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867144" y="2478024"/>
            <a:ext cx="2130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 / +400 / +800 / +1600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9326880" y="1828800"/>
            <a:ext cx="2240280" cy="932688"/>
          </a:xfrm>
          <a:prstGeom prst="roundRect">
            <a:avLst>
              <a:gd name="adj" fmla="val 7843"/>
            </a:avLst>
          </a:prstGeom>
          <a:solidFill>
            <a:srgbClr val="0D1520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9509760" y="19751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</a:t>
            </a:r>
            <a:endParaRPr lang="en-US" sz="1000" dirty="0"/>
          </a:p>
        </p:txBody>
      </p:sp>
      <p:pic>
        <p:nvPicPr>
          <p:cNvPr id="30" name="Image 5" descr="/Users/fengruiding/Desktop/cs520/project/ppt_3pages/ui_fruit_cherri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4996" y="2157984"/>
            <a:ext cx="347472" cy="283464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491472" y="2487168"/>
            <a:ext cx="1911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1600" dirty="0"/>
          </a:p>
        </p:txBody>
      </p:sp>
      <p:sp>
        <p:nvSpPr>
          <p:cNvPr id="32" name="Shape 24"/>
          <p:cNvSpPr/>
          <p:nvPr/>
        </p:nvSpPr>
        <p:spPr>
          <a:xfrm>
            <a:off x="640080" y="2944368"/>
            <a:ext cx="5440680" cy="2834640"/>
          </a:xfrm>
          <a:prstGeom prst="roundRect">
            <a:avLst>
              <a:gd name="adj" fmla="val 2581"/>
            </a:avLst>
          </a:prstGeom>
          <a:solidFill>
            <a:srgbClr val="0D1520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3" name="Text 25"/>
          <p:cNvSpPr/>
          <p:nvPr/>
        </p:nvSpPr>
        <p:spPr>
          <a:xfrm>
            <a:off x="868680" y="314553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800" dirty="0"/>
          </a:p>
        </p:txBody>
      </p:sp>
      <p:sp>
        <p:nvSpPr>
          <p:cNvPr id="34" name="Shape 26"/>
          <p:cNvSpPr/>
          <p:nvPr/>
        </p:nvSpPr>
        <p:spPr>
          <a:xfrm>
            <a:off x="868680" y="3511296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82000"/>
              </a:srgbClr>
            </a:solidFill>
            <a:prstDash val="solid"/>
          </a:ln>
        </p:spPr>
      </p:sp>
      <p:sp>
        <p:nvSpPr>
          <p:cNvPr id="35" name="Text 27"/>
          <p:cNvSpPr/>
          <p:nvPr/>
        </p:nvSpPr>
        <p:spPr>
          <a:xfrm>
            <a:off x="868680" y="3694176"/>
            <a:ext cx="498348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player controls Pac-Man and clears the maze by eating all pellets and energizers.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Pac-Man starts the game with 3 lives.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Colliding with a normal ghost costs 1 life.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game ends when all 3 lives are lost.</a:t>
            </a:r>
            <a:endParaRPr lang="en-US" sz="1600" dirty="0"/>
          </a:p>
        </p:txBody>
      </p:sp>
      <p:sp>
        <p:nvSpPr>
          <p:cNvPr id="36" name="Shape 28"/>
          <p:cNvSpPr/>
          <p:nvPr/>
        </p:nvSpPr>
        <p:spPr>
          <a:xfrm>
            <a:off x="6291072" y="2944368"/>
            <a:ext cx="5276088" cy="2834640"/>
          </a:xfrm>
          <a:prstGeom prst="roundRect">
            <a:avLst>
              <a:gd name="adj" fmla="val 2581"/>
            </a:avLst>
          </a:prstGeom>
          <a:solidFill>
            <a:srgbClr val="0D1520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7" name="Text 29"/>
          <p:cNvSpPr/>
          <p:nvPr/>
        </p:nvSpPr>
        <p:spPr>
          <a:xfrm>
            <a:off x="6519672" y="3145536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6519672" y="3511296"/>
            <a:ext cx="4818888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6519672" y="3694176"/>
            <a:ext cx="481888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a regular pellet gives +10 points.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an energizer gives +50 points and makes ghosts vulnerable for a limited time.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vulnerable ghosts gives increasing bonus rewards: +200 / +400 / +800 / +1600.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Fruit appears at specific stages and gives bonus points when collected.</a:t>
            </a:r>
            <a:endParaRPr lang="en-US" sz="1500" dirty="0"/>
          </a:p>
        </p:txBody>
      </p:sp>
      <p:sp>
        <p:nvSpPr>
          <p:cNvPr id="40" name="Shape 32"/>
          <p:cNvSpPr/>
          <p:nvPr/>
        </p:nvSpPr>
        <p:spPr>
          <a:xfrm>
            <a:off x="640080" y="5943600"/>
            <a:ext cx="10927080" cy="420624"/>
          </a:xfrm>
          <a:prstGeom prst="roundRect">
            <a:avLst>
              <a:gd name="adj" fmla="val 17391"/>
            </a:avLst>
          </a:prstGeom>
          <a:solidFill>
            <a:srgbClr val="0D1520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896112" y="6108192"/>
            <a:ext cx="10415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objective: score as much as possible while surviving long enough to clear the maze.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ruiding/Desktop/cs520/project/ppt_3pages/pacman_neon_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and Penalty Design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16A085">
                <a:alpha val="72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0080" y="1810512"/>
            <a:ext cx="1325880" cy="0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2231136"/>
            <a:ext cx="1325880" cy="0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10512"/>
            <a:ext cx="0" cy="420624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65960" y="1810512"/>
            <a:ext cx="0" cy="420624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33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4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103120" y="1810512"/>
            <a:ext cx="1325880" cy="0"/>
          </a:xfrm>
          <a:prstGeom prst="line">
            <a:avLst/>
          </a:prstGeom>
          <a:noFill/>
          <a:ln w="12700">
            <a:solidFill>
              <a:srgbClr val="D9302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03120" y="2231136"/>
            <a:ext cx="1325880" cy="0"/>
          </a:xfrm>
          <a:prstGeom prst="line">
            <a:avLst/>
          </a:prstGeom>
          <a:noFill/>
          <a:ln w="12700">
            <a:solidFill>
              <a:srgbClr val="D9302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03120" y="1810512"/>
            <a:ext cx="0" cy="420624"/>
          </a:xfrm>
          <a:prstGeom prst="line">
            <a:avLst/>
          </a:prstGeom>
          <a:noFill/>
          <a:ln w="12700">
            <a:solidFill>
              <a:srgbClr val="D9302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29000" y="1810512"/>
            <a:ext cx="0" cy="420624"/>
          </a:xfrm>
          <a:prstGeom prst="line">
            <a:avLst/>
          </a:prstGeom>
          <a:noFill/>
          <a:ln w="12700">
            <a:solidFill>
              <a:srgbClr val="D9302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49424" y="1883664"/>
            <a:ext cx="1033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566160" y="1810512"/>
            <a:ext cx="1508760" cy="0"/>
          </a:xfrm>
          <a:prstGeom prst="line">
            <a:avLst/>
          </a:prstGeom>
          <a:noFill/>
          <a:ln w="12700">
            <a:solidFill>
              <a:srgbClr val="F4B4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566160" y="2231136"/>
            <a:ext cx="1508760" cy="0"/>
          </a:xfrm>
          <a:prstGeom prst="line">
            <a:avLst/>
          </a:prstGeom>
          <a:noFill/>
          <a:ln w="12700">
            <a:solidFill>
              <a:srgbClr val="F4B40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566160" y="1810512"/>
            <a:ext cx="0" cy="420624"/>
          </a:xfrm>
          <a:prstGeom prst="line">
            <a:avLst/>
          </a:prstGeom>
          <a:noFill/>
          <a:ln w="12700">
            <a:solidFill>
              <a:srgbClr val="F4B40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74920" y="1810512"/>
            <a:ext cx="0" cy="420624"/>
          </a:xfrm>
          <a:prstGeom prst="line">
            <a:avLst/>
          </a:prstGeom>
          <a:noFill/>
          <a:ln w="12700">
            <a:solidFill>
              <a:srgbClr val="F4B40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12464" y="1883664"/>
            <a:ext cx="1216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212080" y="1810512"/>
            <a:ext cx="1965960" cy="0"/>
          </a:xfrm>
          <a:prstGeom prst="line">
            <a:avLst/>
          </a:prstGeom>
          <a:noFill/>
          <a:ln w="12700">
            <a:solidFill>
              <a:srgbClr val="16A08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212080" y="2231136"/>
            <a:ext cx="1965960" cy="0"/>
          </a:xfrm>
          <a:prstGeom prst="line">
            <a:avLst/>
          </a:prstGeom>
          <a:noFill/>
          <a:ln w="12700">
            <a:solidFill>
              <a:srgbClr val="16A08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212080" y="1810512"/>
            <a:ext cx="0" cy="420624"/>
          </a:xfrm>
          <a:prstGeom prst="line">
            <a:avLst/>
          </a:prstGeom>
          <a:noFill/>
          <a:ln w="12700">
            <a:solidFill>
              <a:srgbClr val="16A0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78040" y="1810512"/>
            <a:ext cx="0" cy="420624"/>
          </a:xfrm>
          <a:prstGeom prst="line">
            <a:avLst/>
          </a:prstGeom>
          <a:noFill/>
          <a:ln w="12700">
            <a:solidFill>
              <a:srgbClr val="16A08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58384" y="1883664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A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Return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40080" y="2487168"/>
            <a:ext cx="5468112" cy="3493008"/>
          </a:xfrm>
          <a:prstGeom prst="roundRect">
            <a:avLst>
              <a:gd name="adj" fmla="val 2094"/>
            </a:avLst>
          </a:prstGeom>
          <a:solidFill>
            <a:srgbClr val="0D1520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68680" y="2688336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Rewards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868680" y="3054096"/>
            <a:ext cx="5010912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68680" y="3236976"/>
            <a:ext cx="5010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Positive rewards are given for collecting pellets, energizers, fruit, and vulnerable ghosts.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Moving away from nearby dangerous ghosts gives an extra reward.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Moving closer to vulnerable ghosts gives an extra reward.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Moving closer to fruit also gives an extra reward.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Clearing the level gives a large terminal reward of +500.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309360" y="2487168"/>
            <a:ext cx="5257800" cy="3493008"/>
          </a:xfrm>
          <a:prstGeom prst="roundRect">
            <a:avLst>
              <a:gd name="adj" fmla="val 2094"/>
            </a:avLst>
          </a:prstGeom>
          <a:solidFill>
            <a:srgbClr val="0D1520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537960" y="2688336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Penalties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537960" y="3054096"/>
            <a:ext cx="4800600" cy="0"/>
          </a:xfrm>
          <a:prstGeom prst="line">
            <a:avLst/>
          </a:prstGeom>
          <a:noFill/>
          <a:ln w="12700">
            <a:solidFill>
              <a:srgbClr val="D93025">
                <a:alpha val="8200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537960" y="3236976"/>
            <a:ext cx="4800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step penalty of -1 discourages wandering without progress.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Additional penalty is applied when the danger level around Pac-Man is high.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Exceeding the step limit causes a timeout penalty of -250.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Dying causes a large negative reward to strongly discourage losing lives.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40080" y="6016752"/>
            <a:ext cx="1783080" cy="658368"/>
          </a:xfrm>
          <a:prstGeom prst="roundRect">
            <a:avLst>
              <a:gd name="adj" fmla="val 11111"/>
            </a:avLst>
          </a:prstGeom>
          <a:solidFill>
            <a:srgbClr val="0D1520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22960" y="618134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COST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822960" y="642823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4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2633472" y="6016752"/>
            <a:ext cx="2011680" cy="658368"/>
          </a:xfrm>
          <a:prstGeom prst="roundRect">
            <a:avLst>
              <a:gd name="adj" fmla="val 11111"/>
            </a:avLst>
          </a:prstGeom>
          <a:solidFill>
            <a:srgbClr val="0D1520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2816352" y="61813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BONUS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2816352" y="642823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A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+500</a:t>
            </a:r>
            <a:endParaRPr lang="en-US" sz="2200" dirty="0"/>
          </a:p>
        </p:txBody>
      </p:sp>
      <p:sp>
        <p:nvSpPr>
          <p:cNvPr id="39" name="Shape 36"/>
          <p:cNvSpPr/>
          <p:nvPr/>
        </p:nvSpPr>
        <p:spPr>
          <a:xfrm>
            <a:off x="4864608" y="6016752"/>
            <a:ext cx="1920240" cy="658368"/>
          </a:xfrm>
          <a:prstGeom prst="roundRect">
            <a:avLst>
              <a:gd name="adj" fmla="val 11111"/>
            </a:avLst>
          </a:prstGeom>
          <a:solidFill>
            <a:srgbClr val="0D152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047488" y="618134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5047488" y="642823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6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-250</a:t>
            </a:r>
            <a:endParaRPr lang="en-US" sz="2200" dirty="0"/>
          </a:p>
        </p:txBody>
      </p:sp>
      <p:sp>
        <p:nvSpPr>
          <p:cNvPr id="42" name="Shape 39"/>
          <p:cNvSpPr/>
          <p:nvPr/>
        </p:nvSpPr>
        <p:spPr>
          <a:xfrm>
            <a:off x="6986016" y="6016752"/>
            <a:ext cx="1920240" cy="658368"/>
          </a:xfrm>
          <a:prstGeom prst="roundRect">
            <a:avLst>
              <a:gd name="adj" fmla="val 11111"/>
            </a:avLst>
          </a:prstGeom>
          <a:solidFill>
            <a:srgbClr val="0D1520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168896" y="618134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DEATH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7168896" y="642823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-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9125712" y="6016752"/>
            <a:ext cx="2441448" cy="658368"/>
          </a:xfrm>
          <a:prstGeom prst="roundRect">
            <a:avLst>
              <a:gd name="adj" fmla="val 11111"/>
            </a:avLst>
          </a:prstGeom>
          <a:solidFill>
            <a:srgbClr val="0D1520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381744" y="6181344"/>
            <a:ext cx="1929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reward function is shaped to balance score, safety, and efficiency instead of only maximizing immediate points.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Placeholder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F4B400">
                <a:alpha val="7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2011680"/>
            <a:ext cx="10241280" cy="3291840"/>
          </a:xfrm>
          <a:prstGeom prst="roundRect">
            <a:avLst>
              <a:gd name="adj" fmla="val 2778"/>
            </a:avLst>
          </a:prstGeom>
          <a:solidFill>
            <a:srgbClr val="FFF9E8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154680" y="278892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to be added later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971800" y="349300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 for the final discussion point.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Pac-Man Reinforcement Learning</dc:title>
  <dc:subject>Pac-Man RL Presentation</dc:subject>
  <dc:creator>OpenAI Codex</dc:creator>
  <cp:lastModifiedBy>OpenAI Codex</cp:lastModifiedBy>
  <cp:revision>1</cp:revision>
  <dcterms:created xsi:type="dcterms:W3CDTF">2026-04-20T16:07:37Z</dcterms:created>
  <dcterms:modified xsi:type="dcterms:W3CDTF">2026-04-20T16:07:37Z</dcterms:modified>
</cp:coreProperties>
</file>
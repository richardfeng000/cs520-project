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7143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chael.liu/Documents/School/CS520/cs520-project/final_ppt/images/pacman_neon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420624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Pac-Man — Search vs Reinforcement Learning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10927080" cy="0"/>
          </a:xfrm>
          <a:prstGeom prst="line">
            <a:avLst/>
          </a:prstGeom>
          <a:noFill/>
          <a:ln w="12700">
            <a:solidFill>
              <a:srgbClr val="F4B400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10927080" cy="566928"/>
          </a:xfrm>
          <a:prstGeom prst="roundRect">
            <a:avLst>
              <a:gd name="adj" fmla="val 12903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6112" y="1389888"/>
            <a:ext cx="10415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520 Final Project — how do search and reinforcement-learning agents play Pac-Man?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9933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267712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4672" y="2359152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Michael Liu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04672" y="2679192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Designer / Project Guide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79976" y="2267712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44568" y="2359152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Ruiding Feng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44568" y="2679192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Implementer / Eval Study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119872" y="2267712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284464" y="2359152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Zhichun Xiao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84464" y="2679192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Writer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3291840"/>
            <a:ext cx="10927080" cy="2377440"/>
          </a:xfrm>
          <a:prstGeom prst="roundRect">
            <a:avLst>
              <a:gd name="adj" fmla="val 3077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68680" y="3456432"/>
            <a:ext cx="1046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 this deck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868680" y="3794760"/>
            <a:ext cx="10469880" cy="0"/>
          </a:xfrm>
          <a:prstGeom prst="line">
            <a:avLst/>
          </a:prstGeom>
          <a:noFill/>
          <a:ln w="12700">
            <a:solidFill>
              <a:srgbClr val="16A085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68680" y="3931920"/>
            <a:ext cx="10469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Problem setup and how we measure agents.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Four agent families: static A*, replanning A*, risk-aware A*, and tabular Q-learning.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Score, survival, and risk-vs-reward results across 11 agents and 50 paired seeds.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Cognitive-science angle: planning vs habit-learning.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Takeaways and future work.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6345936"/>
            <a:ext cx="10927080" cy="384048"/>
          </a:xfrm>
          <a:prstGeom prst="roundRect">
            <a:avLst>
              <a:gd name="adj" fmla="val 19048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96112" y="6455664"/>
            <a:ext cx="10415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· github.com/RichardFeng000/cs520-project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chael.liu/Documents/School/CS520/cs520-project/final_ppt/images/pacman_neon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420624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Setup: Pac-Man as a Dynamic Grid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10927080" cy="0"/>
          </a:xfrm>
          <a:prstGeom prst="line">
            <a:avLst/>
          </a:prstGeom>
          <a:noFill/>
          <a:ln w="12700">
            <a:solidFill>
              <a:srgbClr val="1E88E5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243584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6112" y="1353312"/>
            <a:ext cx="10415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Pac-Man with 4 ghosts on a fixed maze. Eat every pellet before losing all 3 lives.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920240"/>
            <a:ext cx="1755648" cy="786384"/>
          </a:xfrm>
          <a:prstGeom prst="roundRect">
            <a:avLst>
              <a:gd name="adj" fmla="val 9302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202996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MAZE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7240" y="224942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× 36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68880" y="1920240"/>
            <a:ext cx="1755648" cy="786384"/>
          </a:xfrm>
          <a:prstGeom prst="roundRect">
            <a:avLst>
              <a:gd name="adj" fmla="val 9302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606040" y="202996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PELLETS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606040" y="224942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244 + 4 energizers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97680" y="1920240"/>
            <a:ext cx="1755648" cy="786384"/>
          </a:xfrm>
          <a:prstGeom prst="roundRect">
            <a:avLst>
              <a:gd name="adj" fmla="val 9302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D930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434840" y="202996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434840" y="224942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(mobile)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26480" y="1920240"/>
            <a:ext cx="1755648" cy="786384"/>
          </a:xfrm>
          <a:prstGeom prst="roundRect">
            <a:avLst>
              <a:gd name="adj" fmla="val 9302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63640" y="202996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/ CAP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63640" y="224942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900 steps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1920240"/>
            <a:ext cx="1755648" cy="786384"/>
          </a:xfrm>
          <a:prstGeom prst="roundRect">
            <a:avLst>
              <a:gd name="adj" fmla="val 9302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092440" y="202996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092440" y="224942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paired seeds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784080" y="1920240"/>
            <a:ext cx="1755648" cy="786384"/>
          </a:xfrm>
          <a:prstGeom prst="roundRect">
            <a:avLst>
              <a:gd name="adj" fmla="val 9302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921240" y="202996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921240" y="224942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configs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" y="2907792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68680" y="307238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maze maps to our problem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68680" y="3410712"/>
            <a:ext cx="4983480" cy="0"/>
          </a:xfrm>
          <a:prstGeom prst="line">
            <a:avLst/>
          </a:prstGeom>
          <a:noFill/>
          <a:ln w="12700">
            <a:solidFill>
              <a:srgbClr val="16A085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68680" y="3547872"/>
            <a:ext cx="4983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 / blocked tiles   →   walkable / wall tiles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Goal                              →   eat every pellet to clear the level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Hazard tiles                  →   ghost tiles + the 4 squares around them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Random spread          →   ghosts move uniformly over legal directions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 weight λ                →   cost = path length + λ × expected ghost risk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126480" y="2907792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355080" y="307238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score the agents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6355080" y="3410712"/>
            <a:ext cx="4983480" cy="0"/>
          </a:xfrm>
          <a:prstGeom prst="line">
            <a:avLst/>
          </a:prstGeom>
          <a:noFill/>
          <a:ln w="12700">
            <a:solidFill>
              <a:srgbClr val="F4B400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355080" y="3547872"/>
            <a:ext cx="4983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Episode ends on the 3rd life lost, a level clear, or 900 steps.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Score = highest score the agent reached.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Time-to-failure = steps before the first death.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Hazard exposure = total steps spent within 2 tiles of a ghost.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Clear rate = fraction of episodes that ate every pellet.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40080" y="6345936"/>
            <a:ext cx="10927080" cy="384048"/>
          </a:xfrm>
          <a:prstGeom prst="roundRect">
            <a:avLst>
              <a:gd name="adj" fmla="val 19048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96112" y="6455664"/>
            <a:ext cx="10415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agent runs on the same 50 seeds {1000…1049}, so all comparisons are on identical starting conditions.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chael.liu/Documents/School/CS520/cs520-project/final_ppt/images/pacman_neon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420624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Lineup — Four Families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10927080" cy="0"/>
          </a:xfrm>
          <a:prstGeom prst="line">
            <a:avLst/>
          </a:prstGeom>
          <a:noFill/>
          <a:ln w="12700">
            <a:solidFill>
              <a:srgbClr val="8E44AD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243584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6112" y="1353312"/>
            <a:ext cx="10415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f(n) = g(n) + h(n) + λ · E[risk(n)]      ·      Q(s,a) ← Q(s,a) + α · [r + γ · maxₐ' Q(s',a') − Q(s,a)]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993392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215798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A*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68680" y="2496312"/>
            <a:ext cx="4983480" cy="0"/>
          </a:xfrm>
          <a:prstGeom prst="line">
            <a:avLst/>
          </a:prstGeom>
          <a:noFill/>
          <a:ln w="12700">
            <a:solidFill>
              <a:srgbClr val="1E88E5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2633472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Plans a path once at the start of the episode.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Only replans if the path becomes blocked or the target is eaten.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Doesn't react to ghosts. Our baseline search agent.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0" y="1993392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55080" y="215798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Replanning A*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355080" y="2496312"/>
            <a:ext cx="4983480" cy="0"/>
          </a:xfrm>
          <a:prstGeom prst="line">
            <a:avLst/>
          </a:prstGeom>
          <a:noFill/>
          <a:ln w="12700">
            <a:solidFill>
              <a:srgbClr val="16A085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55080" y="2633472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Recomputes the path every step.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Treats ghost tiles and the 4 squares around them as walls.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Falls back to a greedy step toward the nearest pellet if no path exists.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411480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68680" y="427939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Risk-Aware A*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68680" y="4617720"/>
            <a:ext cx="4983480" cy="0"/>
          </a:xfrm>
          <a:prstGeom prst="line">
            <a:avLst/>
          </a:prstGeom>
          <a:noFill/>
          <a:ln w="12700">
            <a:solidFill>
              <a:srgbClr val="8E44AD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68680" y="475488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Like Replanning A*, but each tile pays an extra cost for expected ghost risk.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 is estimated from one step of random ghost movement.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 swept λ over {0.5, 1, 2, 5}.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26480" y="411480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355080" y="427939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Tabular Q-learning — 3 death policies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355080" y="4617720"/>
            <a:ext cx="4983480" cy="0"/>
          </a:xfrm>
          <a:prstGeom prst="line">
            <a:avLst/>
          </a:prstGeom>
          <a:noFill/>
          <a:ln w="12700">
            <a:solidFill>
              <a:srgbClr val="F4B400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355080" y="475488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10-feature state. α = 0.18, γ = 0.95, ε from 0.12 with decay.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Trained for many episodes per model.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Three death penalties: Model 1 keep score · Model 2 zero on death · Model 3 ratcheting penalty.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" y="6345936"/>
            <a:ext cx="10927080" cy="384048"/>
          </a:xfrm>
          <a:prstGeom prst="roundRect">
            <a:avLst>
              <a:gd name="adj" fmla="val 19048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96112" y="6455664"/>
            <a:ext cx="10415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extra baselines (random and a hand-coded heuristic) run alongside the four families above.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chael.liu/Documents/School/CS520/cs520-project/final_ppt/images/pacman_neon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420624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Comparison (Figure 1)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10927080" cy="0"/>
          </a:xfrm>
          <a:prstGeom prst="line">
            <a:avLst/>
          </a:prstGeom>
          <a:noFill/>
          <a:ln w="12700">
            <a:solidFill>
              <a:srgbClr val="16A085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85216" y="1271016"/>
            <a:ext cx="7059168" cy="3767328"/>
          </a:xfrm>
          <a:prstGeom prst="roundRect">
            <a:avLst>
              <a:gd name="adj" fmla="val 194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/Users/michael.liu/Documents/School/CS520/cs520-project/notebooks/figures/fig01_score_b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25880"/>
            <a:ext cx="6949440" cy="3657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07492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peak score per episode (n=50). Black diamonds = single best run.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680960" y="1325880"/>
            <a:ext cx="3886200" cy="4114800"/>
          </a:xfrm>
          <a:prstGeom prst="roundRect">
            <a:avLst>
              <a:gd name="adj" fmla="val 1882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909560" y="14904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Read-outs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909560" y="1828800"/>
            <a:ext cx="3429000" cy="0"/>
          </a:xfrm>
          <a:prstGeom prst="line">
            <a:avLst/>
          </a:prstGeom>
          <a:noFill/>
          <a:ln w="12700">
            <a:solidFill>
              <a:srgbClr val="16A085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909560" y="1965960"/>
            <a:ext cx="34290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three Q-learning agents top the planners on score: model 3 (3,757) &gt; model 2 (3,494) &gt; model 1 (3,249).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Planners cluster just behind at ≈3,150 (replan / risk-aware tied).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Heuristic (1,695) and astar_static (1,479) form the middle pack.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Random sanity floor: 167 ± 31.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5541264"/>
            <a:ext cx="10927080" cy="603504"/>
          </a:xfrm>
          <a:prstGeom prst="roundRect">
            <a:avLst>
              <a:gd name="adj" fmla="val 12121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896112" y="5650992"/>
            <a:ext cx="10415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Take-away — Q-learning beats the planners across the board; heavier death penalty (model 1 → model 3) yields an even stronger policy.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6345936"/>
            <a:ext cx="10927080" cy="384048"/>
          </a:xfrm>
          <a:prstGeom prst="roundRect">
            <a:avLst>
              <a:gd name="adj" fmla="val 19048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896112" y="6455664"/>
            <a:ext cx="10415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single run: 7,800 (level cleared) — every Q-learning model and every planner reaches it on at least one seed.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chael.liu/Documents/School/CS520/cs520-project/final_ppt/images/pacman_neon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420624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Survival: Clear Rate, Deaths, Time-to-Failure (Figure 3)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10927080" cy="0"/>
          </a:xfrm>
          <a:prstGeom prst="line">
            <a:avLst/>
          </a:prstGeom>
          <a:noFill/>
          <a:ln w="12700">
            <a:solidFill>
              <a:srgbClr val="D93025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85216" y="1225296"/>
            <a:ext cx="11036808" cy="2807208"/>
          </a:xfrm>
          <a:prstGeom prst="roundRect">
            <a:avLst>
              <a:gd name="adj" fmla="val 260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/Users/michael.liu/Documents/School/CS520/cs520-project/notebooks/figures/fig03_survival_pane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80160"/>
            <a:ext cx="10927080" cy="2697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4096512"/>
            <a:ext cx="10927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views across all 11 agents (50 paired seeds each).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44348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68680" y="45994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rate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68680" y="4937760"/>
            <a:ext cx="3154680" cy="0"/>
          </a:xfrm>
          <a:prstGeom prst="line">
            <a:avLst/>
          </a:prstGeom>
          <a:noFill/>
          <a:ln w="12700">
            <a:solidFill>
              <a:srgbClr val="16A085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68680" y="50749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Q-learning model 3 leads at 24%, model 2 at 20%, model 1 at 16%.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Replan / Risk-aware: 14%.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Static A*: 6% · Heuristic and Random never clear.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89120" y="4434840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D930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617720" y="459943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Deaths per episode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4617720" y="4937760"/>
            <a:ext cx="2999232" cy="0"/>
          </a:xfrm>
          <a:prstGeom prst="line">
            <a:avLst/>
          </a:prstGeom>
          <a:noFill/>
          <a:ln w="12700">
            <a:solidFill>
              <a:srgbClr val="D93025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617720" y="5074920"/>
            <a:ext cx="2999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Static A* and Random lose all 3 lives every episode.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Planners + Heuristic ≈ 2.8.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Q-learning: model 1 (2.55) → model 2 (2.35) → model 3 (2.15).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973568" y="4434840"/>
            <a:ext cx="3593592" cy="1874520"/>
          </a:xfrm>
          <a:prstGeom prst="roundRect">
            <a:avLst>
              <a:gd name="adj" fmla="val 3902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8202168" y="4599432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Time-to-failure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202168" y="4937760"/>
            <a:ext cx="3136392" cy="0"/>
          </a:xfrm>
          <a:prstGeom prst="line">
            <a:avLst/>
          </a:prstGeom>
          <a:noFill/>
          <a:ln w="12700">
            <a:solidFill>
              <a:srgbClr val="F4B400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8202168" y="5074920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Q-learning: model 3 (220) &gt; model 2 (175) &gt; model 1 (130).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Heuristic ≈ 156 · Replan / Risk-aware ≈ 119.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Static A* dies at step 24 — walks into the first ghost it sees.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40080" y="6345936"/>
            <a:ext cx="10927080" cy="384048"/>
          </a:xfrm>
          <a:prstGeom prst="roundRect">
            <a:avLst>
              <a:gd name="adj" fmla="val 19048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896112" y="6455664"/>
            <a:ext cx="10415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Take-away — Q-learning leads on every survival metric. Heavier death penalty produces a more cautious and longer-lived policy.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chael.liu/Documents/School/CS520/cs520-project/final_ppt/images/pacman_neon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420624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vs Reward — The Central Finding (Figure 5)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10927080" cy="0"/>
          </a:xfrm>
          <a:prstGeom prst="line">
            <a:avLst/>
          </a:prstGeom>
          <a:noFill/>
          <a:ln w="12700">
            <a:solidFill>
              <a:srgbClr val="8E44AD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85216" y="1271016"/>
            <a:ext cx="7059168" cy="4133088"/>
          </a:xfrm>
          <a:prstGeom prst="roundRect">
            <a:avLst>
              <a:gd name="adj" fmla="val 177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/Users/michael.liu/Documents/School/CS520/cs520-project/notebooks/figures/fig05_risk_rew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25880"/>
            <a:ext cx="6949440" cy="4023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44068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Top-left = high score with low risk (the best place to be). Bold X = each agent's mean.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680960" y="1325880"/>
            <a:ext cx="3886200" cy="2103120"/>
          </a:xfrm>
          <a:prstGeom prst="roundRect">
            <a:avLst>
              <a:gd name="adj" fmla="val 3478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909560" y="14904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clusters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7909560" y="1828800"/>
            <a:ext cx="3429000" cy="0"/>
          </a:xfrm>
          <a:prstGeom prst="line">
            <a:avLst/>
          </a:prstGeom>
          <a:noFill/>
          <a:ln w="12700">
            <a:solidFill>
              <a:srgbClr val="8E44AD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909560" y="196596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Q-learners → upper-left corner: score 3,249–3,757 with hazard 22–78.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Planners (replan / risk-aware) → middle: score ≈ 3,150, hazard ≈ 110.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Heuristic → far right: hazard 201, score 1,695.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680960" y="3520440"/>
            <a:ext cx="3886200" cy="2468880"/>
          </a:xfrm>
          <a:prstGeom prst="roundRect">
            <a:avLst>
              <a:gd name="adj" fmla="val 2963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909560" y="368503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the central finding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7909560" y="4023360"/>
            <a:ext cx="3429000" cy="0"/>
          </a:xfrm>
          <a:prstGeom prst="line">
            <a:avLst/>
          </a:prstGeom>
          <a:noFill/>
          <a:ln w="12700">
            <a:solidFill>
              <a:srgbClr val="F4B400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909560" y="4160520"/>
            <a:ext cx="3429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Q-learning has learned a value function that already includes ghost-avoidance.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three variants beat the planners on score AND on hazard exposure.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 3 (3,757 / hazard 22) Pareto-dominates every other agent in the field.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This sets up the cognitive-science slide next.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6345936"/>
            <a:ext cx="10927080" cy="384048"/>
          </a:xfrm>
          <a:prstGeom prst="roundRect">
            <a:avLst>
              <a:gd name="adj" fmla="val 19048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896112" y="6455664"/>
            <a:ext cx="10415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exposure = total steps with a ghost within 2 tiles.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chael.liu/Documents/School/CS520/cs520-project/final_ppt/images/pacman_neon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420624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Q-learning: Death-Policy Ablation (Figure 7)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10927080" cy="0"/>
          </a:xfrm>
          <a:prstGeom prst="line">
            <a:avLst/>
          </a:prstGeom>
          <a:noFill/>
          <a:ln w="12700">
            <a:solidFill>
              <a:srgbClr val="F4B400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85216" y="1225296"/>
            <a:ext cx="11036808" cy="2807208"/>
          </a:xfrm>
          <a:prstGeom prst="roundRect">
            <a:avLst>
              <a:gd name="adj" fmla="val 260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/Users/michael.liu/Documents/School/CS520/cs520-project/notebooks/figures/fig07_qlearning_ab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80160"/>
            <a:ext cx="10927080" cy="2697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4096512"/>
            <a:ext cx="10927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score · clear rate · avg deaths · avg time-to-failure for the three death-penalty variants.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44348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D930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68680" y="45994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 — keep score on death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68680" y="4937760"/>
            <a:ext cx="3154680" cy="0"/>
          </a:xfrm>
          <a:prstGeom prst="line">
            <a:avLst/>
          </a:prstGeom>
          <a:noFill/>
          <a:ln w="12700">
            <a:solidFill>
              <a:srgbClr val="D93025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68680" y="50749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Lowest of the three (3,249 mean) but still tops every planner.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Hazard 78 · time-to-failure 130 · 15.1% level clears.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death cost → policy is the riskiest of the three, but the value function still avoids ghosts well enough to win.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89120" y="4434840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617720" y="459943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 — zero score on death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4617720" y="4937760"/>
            <a:ext cx="2999232" cy="0"/>
          </a:xfrm>
          <a:prstGeom prst="line">
            <a:avLst/>
          </a:prstGeom>
          <a:noFill/>
          <a:ln w="12700">
            <a:solidFill>
              <a:srgbClr val="F4B400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617720" y="5074920"/>
            <a:ext cx="2999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Middle score (3,494), hazard cut to 46.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Time-to-failure 175 steps · 19.7% level clears.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balanced spot: chases score, but really tries not to die.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973568" y="4434840"/>
            <a:ext cx="3593592" cy="1874520"/>
          </a:xfrm>
          <a:prstGeom prst="roundRect">
            <a:avLst>
              <a:gd name="adj" fmla="val 3902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8202168" y="4599432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3 — scaled + ratcheting penalty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202168" y="4937760"/>
            <a:ext cx="3136392" cy="0"/>
          </a:xfrm>
          <a:prstGeom prst="line">
            <a:avLst/>
          </a:prstGeom>
          <a:noFill/>
          <a:ln w="12700">
            <a:solidFill>
              <a:srgbClr val="8E44AD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8202168" y="5074920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agent in the field (3,757 mean) and the safest.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Hazard 22 (about 1/5 of the planners) · time-to-failure 220 · 24.8% level clears.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Strong death penalty teaches the agent to survive — and surviving = more pellets.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40080" y="6345936"/>
            <a:ext cx="10927080" cy="384048"/>
          </a:xfrm>
          <a:prstGeom prst="roundRect">
            <a:avLst>
              <a:gd name="adj" fmla="val 19048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896112" y="6455664"/>
            <a:ext cx="10415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Take-away — every variant beats the planners; heavier death penalty (1 → 3) makes the gap larger on every metric.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chael.liu/Documents/School/CS520/cs520-project/final_ppt/images/pacman_neon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715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0080" y="203454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Science: Planning vs Habit-Learning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880110"/>
            <a:ext cx="10927080" cy="0"/>
          </a:xfrm>
          <a:prstGeom prst="line">
            <a:avLst/>
          </a:prstGeom>
          <a:noFill/>
          <a:ln w="12700">
            <a:solidFill>
              <a:srgbClr val="16A085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026414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6112" y="1136142"/>
            <a:ext cx="10415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Decker, Otto, Daw &amp; Hartley (2016) — "From Creatures of Habit to Goal-Directed Learners", Psychological Science.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1703070"/>
            <a:ext cx="5440680" cy="1780634"/>
          </a:xfrm>
          <a:prstGeom prst="roundRect">
            <a:avLst>
              <a:gd name="adj" fmla="val 4103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1867662"/>
            <a:ext cx="1046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idea ↔ Our agents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 flipV="1">
            <a:off x="868680" y="2160270"/>
            <a:ext cx="4983480" cy="45720"/>
          </a:xfrm>
          <a:prstGeom prst="line">
            <a:avLst/>
          </a:prstGeom>
          <a:noFill/>
          <a:ln w="12700">
            <a:solidFill>
              <a:srgbClr val="16A085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2343150"/>
            <a:ext cx="10469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Habit-style learning (no simulation)   →   qlearning_model{1,2,3}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Planning (simulate, then act)                →   astar_replan &amp; astar_risk_l*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Planning that uses risk estimates       →   risk-aware A*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Two-stage MDP probe                      →   50-seed Monte Carlo on the maze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49340" y="1700625"/>
            <a:ext cx="5440680" cy="1783080"/>
          </a:xfrm>
          <a:prstGeom prst="roundRect">
            <a:avLst>
              <a:gd name="adj" fmla="val 3404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27648" y="181279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2 — Habits and planning live side by side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24867" y="2160270"/>
            <a:ext cx="4983480" cy="0"/>
          </a:xfrm>
          <a:prstGeom prst="line">
            <a:avLst/>
          </a:prstGeom>
          <a:noFill/>
          <a:ln w="12700">
            <a:solidFill>
              <a:srgbClr val="8E44AD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44202" y="3620864"/>
            <a:ext cx="11045817" cy="3033681"/>
          </a:xfrm>
          <a:prstGeom prst="roundRect">
            <a:avLst>
              <a:gd name="adj" fmla="val 3404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355080" y="395935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09360" y="224256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Their data: habits never disappear — they blend with planning.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Our run: Q-learning beats the planners on score AND spends 1.4–5× less time near ghosts.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Cached value can specialise for safety in ways a 1-step planner can't — both routes are useful.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Fig. 5 shows the same trade-off.</a:t>
            </a:r>
            <a:endParaRPr lang="en-US" sz="11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962548E-CC38-C866-4B6C-1DDC9C205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569" y="3348990"/>
            <a:ext cx="4829991" cy="32433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BFF541-B9E7-49A5-2E40-789D70A2A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79" y="3942284"/>
            <a:ext cx="5868489" cy="24986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chael.liu/Documents/School/CS520/cs520-project/final_ppt/images/pacman_neon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420624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&amp; Future Work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10927080" cy="0"/>
          </a:xfrm>
          <a:prstGeom prst="line">
            <a:avLst/>
          </a:prstGeom>
          <a:noFill/>
          <a:ln w="12700">
            <a:solidFill>
              <a:srgbClr val="F4B400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243584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6112" y="1353312"/>
            <a:ext cx="10415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agents · 50 paired seeds · 28×36 Pac-Man — what we learned.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9202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208483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Replanning is what makes A* work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68680" y="2423160"/>
            <a:ext cx="4983480" cy="0"/>
          </a:xfrm>
          <a:prstGeom prst="line">
            <a:avLst/>
          </a:prstGeom>
          <a:noFill/>
          <a:ln w="12700">
            <a:solidFill>
              <a:srgbClr val="1E88E5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256032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Static A* loses to every replanning agent on every metric.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5× longer survival and ~2× higher score, just by replanning every step.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26480" y="19202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55080" y="208483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Risk-Aware A* ≈ Replanning A* here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355080" y="2423160"/>
            <a:ext cx="4983480" cy="0"/>
          </a:xfrm>
          <a:prstGeom prst="line">
            <a:avLst/>
          </a:prstGeom>
          <a:noFill/>
          <a:ln w="12700">
            <a:solidFill>
              <a:srgbClr val="8E44AD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55080" y="256032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Treating ghost squares as walls already removes most of the risk, so the λ·E[risk] term has little extra to do.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Risk-aware A* would shine in a sparser maze with fewer escape routes.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384048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68680" y="400507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Q-learning beats planning on this maze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68680" y="4343400"/>
            <a:ext cx="4983480" cy="0"/>
          </a:xfrm>
          <a:prstGeom prst="line">
            <a:avLst/>
          </a:prstGeom>
          <a:noFill/>
          <a:ln w="12700">
            <a:solidFill>
              <a:srgbClr val="16A085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68680" y="44805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three Q-learning models top the planners on score AND on hazard exposure.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Heavier death penalty → stronger policy: model 1 (3,249 / haz 78) → model 3 (3,757 / haz 22).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126480" y="384048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D930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355080" y="400507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The heuristic survives longest but takes the most risk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355080" y="4343400"/>
            <a:ext cx="4983480" cy="0"/>
          </a:xfrm>
          <a:prstGeom prst="line">
            <a:avLst/>
          </a:prstGeom>
          <a:noFill/>
          <a:ln w="12700">
            <a:solidFill>
              <a:srgbClr val="D93025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355080" y="44805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Survives 156 steps (longest of all agents) but hazard 201 (highest of all).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Useful contrast for the planner-vs-learner trade-off.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40080" y="576072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96112" y="5870448"/>
            <a:ext cx="10415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 — soften the ghost obstacles · plan further ahead · DQN from raw maze · learn the ghost movement model.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" y="6345936"/>
            <a:ext cx="10927080" cy="384048"/>
          </a:xfrm>
          <a:prstGeom prst="roundRect">
            <a:avLst>
              <a:gd name="adj" fmla="val 19048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96112" y="6455664"/>
            <a:ext cx="10415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· github.com/RichardFeng000/cs520-project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1639</Words>
  <Application>Microsoft Macintosh PowerPoint</Application>
  <PresentationFormat>Widescreen</PresentationFormat>
  <Paragraphs>150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UMass Amherst — CS 520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Decision-Theoretic Navigation Under Uncertainty</dc:title>
  <dc:subject>Pac-Man RL Final Presentation</dc:subject>
  <dc:creator>Michael Liu, Ruiding Feng, Zhichun Xiao</dc:creator>
  <cp:lastModifiedBy>Michael Liu</cp:lastModifiedBy>
  <cp:revision>5</cp:revision>
  <dcterms:created xsi:type="dcterms:W3CDTF">2026-05-05T09:35:59Z</dcterms:created>
  <dcterms:modified xsi:type="dcterms:W3CDTF">2026-05-05T15:09:20Z</dcterms:modified>
</cp:coreProperties>
</file>